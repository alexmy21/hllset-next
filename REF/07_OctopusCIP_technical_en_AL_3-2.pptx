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oleObject" PartName="/ppt/embeddings/oleObject3.bin"/>
  <Override ContentType="application/vnd.openxmlformats-officedocument.oleObject" PartName="/ppt/embeddings/oleObject4.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7559675" cx="10080625"/>
  <p:notesSz cx="7772400" cy="10058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39" roundtripDataSignature="AMtx7mgqfhROWTW/brcvJJTdiBkNMfpc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12" type="sldNum"/>
          </p:nvPr>
        </p:nvSpPr>
        <p:spPr>
          <a:xfrm>
            <a:off x="4398962" y="9555162"/>
            <a:ext cx="3363912" cy="493712"/>
          </a:xfrm>
          <a:prstGeom prst="rect">
            <a:avLst/>
          </a:prstGeom>
          <a:noFill/>
          <a:ln>
            <a:noFill/>
          </a:ln>
        </p:spPr>
        <p:txBody>
          <a:bodyPr anchorCtr="0" anchor="b" bIns="0" lIns="0" spcFirstLastPara="1" rIns="0" wrap="square" tIns="0">
            <a:noAutofit/>
          </a:bodyPr>
          <a:lstStyle/>
          <a:p>
            <a:pPr indent="0" lvl="0" marL="0" marR="0" rtl="0" algn="l">
              <a:lnSpc>
                <a:spcPct val="93000"/>
              </a:lnSpc>
              <a:spcBef>
                <a:spcPts val="0"/>
              </a:spcBef>
              <a:spcAft>
                <a:spcPts val="0"/>
              </a:spcAft>
              <a:buNone/>
            </a:pPr>
            <a:fld id="{00000000-1234-1234-1234-123412341234}" type="slidenum">
              <a:rPr b="0" i="0" lang="en-US" sz="1800" u="none" cap="none" strike="noStrike">
                <a:solidFill>
                  <a:srgbClr val="FFFFFF"/>
                </a:solidFill>
                <a:latin typeface="Arial"/>
                <a:ea typeface="Arial"/>
                <a:cs typeface="Arial"/>
                <a:sym typeface="Arial"/>
              </a:rPr>
              <a:t>‹#›</a:t>
            </a:fld>
            <a:endParaRPr/>
          </a:p>
        </p:txBody>
      </p:sp>
      <p:sp>
        <p:nvSpPr>
          <p:cNvPr id="4" name="Google Shape;4;n"/>
          <p:cNvSpPr/>
          <p:nvPr/>
        </p:nvSpPr>
        <p:spPr>
          <a:xfrm>
            <a:off x="0" y="0"/>
            <a:ext cx="7772400" cy="10058400"/>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5" name="Google Shape;5;n"/>
          <p:cNvSpPr/>
          <p:nvPr/>
        </p:nvSpPr>
        <p:spPr>
          <a:xfrm>
            <a:off x="0" y="0"/>
            <a:ext cx="7772400" cy="10058400"/>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6" name="Google Shape;6;n"/>
          <p:cNvSpPr/>
          <p:nvPr/>
        </p:nvSpPr>
        <p:spPr>
          <a:xfrm>
            <a:off x="0" y="0"/>
            <a:ext cx="7772400" cy="10058400"/>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7" name="Google Shape;7;n"/>
          <p:cNvSpPr/>
          <p:nvPr/>
        </p:nvSpPr>
        <p:spPr>
          <a:xfrm>
            <a:off x="0" y="0"/>
            <a:ext cx="7772400" cy="10058400"/>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8" name="Google Shape;8;n"/>
          <p:cNvSpPr/>
          <p:nvPr/>
        </p:nvSpPr>
        <p:spPr>
          <a:xfrm>
            <a:off x="0" y="0"/>
            <a:ext cx="7772400" cy="10058400"/>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9" name="Google Shape;9;n"/>
          <p:cNvSpPr/>
          <p:nvPr>
            <p:ph idx="2" type="sldImg"/>
          </p:nvPr>
        </p:nvSpPr>
        <p:spPr>
          <a:xfrm>
            <a:off x="1371600" y="763587"/>
            <a:ext cx="5019675" cy="3762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 name="Google Shape;10;n"/>
          <p:cNvSpPr txBox="1"/>
          <p:nvPr>
            <p:ph idx="1" type="body"/>
          </p:nvPr>
        </p:nvSpPr>
        <p:spPr>
          <a:xfrm>
            <a:off x="777875" y="4776787"/>
            <a:ext cx="6208712" cy="4516437"/>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1" name="Google Shape;11;n"/>
          <p:cNvSpPr/>
          <p:nvPr/>
        </p:nvSpPr>
        <p:spPr>
          <a:xfrm>
            <a:off x="0" y="0"/>
            <a:ext cx="3367087" cy="49688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2" name="Google Shape;12;n"/>
          <p:cNvSpPr/>
          <p:nvPr/>
        </p:nvSpPr>
        <p:spPr>
          <a:xfrm>
            <a:off x="4398962" y="0"/>
            <a:ext cx="3367087" cy="49688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3" name="Google Shape;13;n"/>
          <p:cNvSpPr/>
          <p:nvPr/>
        </p:nvSpPr>
        <p:spPr>
          <a:xfrm>
            <a:off x="0" y="9555162"/>
            <a:ext cx="3367087" cy="49688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4" name="Google Shape;14;n"/>
          <p:cNvSpPr txBox="1"/>
          <p:nvPr>
            <p:ph idx="3" type="sldNum"/>
          </p:nvPr>
        </p:nvSpPr>
        <p:spPr>
          <a:xfrm>
            <a:off x="4398962" y="9555162"/>
            <a:ext cx="3363912" cy="493712"/>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7" name="Google Shape;27;p1:notes"/>
          <p:cNvSpPr/>
          <p:nvPr>
            <p:ph idx="2" type="sldImg"/>
          </p:nvPr>
        </p:nvSpPr>
        <p:spPr>
          <a:xfrm>
            <a:off x="1371600" y="763587"/>
            <a:ext cx="5029200" cy="37719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8" name="Google Shape;28;p1:notes"/>
          <p:cNvSpPr txBox="1"/>
          <p:nvPr>
            <p:ph idx="1" type="body"/>
          </p:nvPr>
        </p:nvSpPr>
        <p:spPr>
          <a:xfrm>
            <a:off x="777875" y="4776787"/>
            <a:ext cx="6218237"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6" name="Google Shape;36;p2:notes"/>
          <p:cNvSpPr/>
          <p:nvPr>
            <p:ph idx="2" type="sldImg"/>
          </p:nvPr>
        </p:nvSpPr>
        <p:spPr>
          <a:xfrm>
            <a:off x="1371600" y="763587"/>
            <a:ext cx="5029200" cy="37719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7" name="Google Shape;37;p2:notes"/>
          <p:cNvSpPr txBox="1"/>
          <p:nvPr>
            <p:ph idx="1" type="body"/>
          </p:nvPr>
        </p:nvSpPr>
        <p:spPr>
          <a:xfrm>
            <a:off x="777875" y="4776787"/>
            <a:ext cx="6218237"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4" name="Google Shape;44;p3:notes"/>
          <p:cNvSpPr/>
          <p:nvPr>
            <p:ph idx="2" type="sldImg"/>
          </p:nvPr>
        </p:nvSpPr>
        <p:spPr>
          <a:xfrm>
            <a:off x="1371600" y="763587"/>
            <a:ext cx="5029200" cy="37719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5" name="Google Shape;45;p3:notes"/>
          <p:cNvSpPr txBox="1"/>
          <p:nvPr>
            <p:ph idx="1" type="body"/>
          </p:nvPr>
        </p:nvSpPr>
        <p:spPr>
          <a:xfrm>
            <a:off x="777875" y="4776787"/>
            <a:ext cx="6218237"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52" name="Google Shape;52;p4:notes"/>
          <p:cNvSpPr/>
          <p:nvPr>
            <p:ph idx="2" type="sldImg"/>
          </p:nvPr>
        </p:nvSpPr>
        <p:spPr>
          <a:xfrm>
            <a:off x="1371600" y="763587"/>
            <a:ext cx="5027612" cy="377031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3" name="Google Shape;53;p4:notes"/>
          <p:cNvSpPr txBox="1"/>
          <p:nvPr>
            <p:ph idx="1" type="body"/>
          </p:nvPr>
        </p:nvSpPr>
        <p:spPr>
          <a:xfrm>
            <a:off x="777875" y="4776787"/>
            <a:ext cx="6216650"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5: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0" name="Google Shape;60;p5:notes"/>
          <p:cNvSpPr/>
          <p:nvPr>
            <p:ph idx="2" type="sldImg"/>
          </p:nvPr>
        </p:nvSpPr>
        <p:spPr>
          <a:xfrm>
            <a:off x="1371600" y="763587"/>
            <a:ext cx="5027612" cy="377031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1" name="Google Shape;61;p5:notes"/>
          <p:cNvSpPr txBox="1"/>
          <p:nvPr>
            <p:ph idx="1" type="body"/>
          </p:nvPr>
        </p:nvSpPr>
        <p:spPr>
          <a:xfrm>
            <a:off x="777875" y="4776787"/>
            <a:ext cx="6216650"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6: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68" name="Google Shape;68;p6:notes"/>
          <p:cNvSpPr/>
          <p:nvPr>
            <p:ph idx="2" type="sldImg"/>
          </p:nvPr>
        </p:nvSpPr>
        <p:spPr>
          <a:xfrm>
            <a:off x="1371600" y="763587"/>
            <a:ext cx="5027612" cy="377031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9" name="Google Shape;69;p6:notes"/>
          <p:cNvSpPr txBox="1"/>
          <p:nvPr>
            <p:ph idx="1" type="body"/>
          </p:nvPr>
        </p:nvSpPr>
        <p:spPr>
          <a:xfrm>
            <a:off x="777875" y="4776787"/>
            <a:ext cx="6216650"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76" name="Google Shape;76;p7:notes"/>
          <p:cNvSpPr/>
          <p:nvPr>
            <p:ph idx="2" type="sldImg"/>
          </p:nvPr>
        </p:nvSpPr>
        <p:spPr>
          <a:xfrm>
            <a:off x="1371600" y="763587"/>
            <a:ext cx="5027612" cy="377031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7" name="Google Shape;77;p7:notes"/>
          <p:cNvSpPr txBox="1"/>
          <p:nvPr>
            <p:ph idx="1" type="body"/>
          </p:nvPr>
        </p:nvSpPr>
        <p:spPr>
          <a:xfrm>
            <a:off x="777875" y="4776787"/>
            <a:ext cx="6216650"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86" name="Google Shape;86;p8:notes"/>
          <p:cNvSpPr/>
          <p:nvPr>
            <p:ph idx="2" type="sldImg"/>
          </p:nvPr>
        </p:nvSpPr>
        <p:spPr>
          <a:xfrm>
            <a:off x="1371600" y="763587"/>
            <a:ext cx="5027612" cy="377031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87" name="Google Shape;87;p8:notes"/>
          <p:cNvSpPr txBox="1"/>
          <p:nvPr>
            <p:ph idx="1" type="body"/>
          </p:nvPr>
        </p:nvSpPr>
        <p:spPr>
          <a:xfrm>
            <a:off x="777875" y="4776787"/>
            <a:ext cx="6216650"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97" name="Google Shape;97;p9:notes"/>
          <p:cNvSpPr/>
          <p:nvPr>
            <p:ph idx="2" type="sldImg"/>
          </p:nvPr>
        </p:nvSpPr>
        <p:spPr>
          <a:xfrm>
            <a:off x="1371600" y="763587"/>
            <a:ext cx="5027612" cy="377031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98" name="Google Shape;98;p9:notes"/>
          <p:cNvSpPr txBox="1"/>
          <p:nvPr>
            <p:ph idx="1" type="body"/>
          </p:nvPr>
        </p:nvSpPr>
        <p:spPr>
          <a:xfrm>
            <a:off x="777875" y="4776787"/>
            <a:ext cx="6216650"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0: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118" name="Google Shape;118;p10: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19" name="Google Shape;119;p10: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1: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128" name="Google Shape;128;p11: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29" name="Google Shape;129;p11: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172" name="Google Shape;172;p12: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73" name="Google Shape;173;p12: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180" name="Google Shape;180;p13: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81" name="Google Shape;181;p13: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188" name="Google Shape;188;p14: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89" name="Google Shape;189;p14: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196" name="Google Shape;196;p15: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97" name="Google Shape;197;p15: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04" name="Google Shape;204;p16:notes"/>
          <p:cNvSpPr/>
          <p:nvPr>
            <p:ph idx="2" type="sldImg"/>
          </p:nvPr>
        </p:nvSpPr>
        <p:spPr>
          <a:xfrm>
            <a:off x="1371600" y="763587"/>
            <a:ext cx="5029200" cy="37719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05" name="Google Shape;205;p16:notes"/>
          <p:cNvSpPr txBox="1"/>
          <p:nvPr>
            <p:ph idx="1" type="body"/>
          </p:nvPr>
        </p:nvSpPr>
        <p:spPr>
          <a:xfrm>
            <a:off x="777875" y="4776787"/>
            <a:ext cx="6218237"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25" name="Google Shape;225;p17:notes"/>
          <p:cNvSpPr/>
          <p:nvPr>
            <p:ph idx="2" type="sldImg"/>
          </p:nvPr>
        </p:nvSpPr>
        <p:spPr>
          <a:xfrm>
            <a:off x="1371600" y="763587"/>
            <a:ext cx="5029200" cy="37719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26" name="Google Shape;226;p17:notes"/>
          <p:cNvSpPr txBox="1"/>
          <p:nvPr>
            <p:ph idx="1" type="body"/>
          </p:nvPr>
        </p:nvSpPr>
        <p:spPr>
          <a:xfrm>
            <a:off x="777875" y="4776787"/>
            <a:ext cx="6218237" cy="452596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43" name="Google Shape;243;p18: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44" name="Google Shape;244;p18: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51" name="Google Shape;251;p19:notes"/>
          <p:cNvSpPr/>
          <p:nvPr>
            <p:ph idx="2" type="sldImg"/>
          </p:nvPr>
        </p:nvSpPr>
        <p:spPr>
          <a:xfrm>
            <a:off x="1371600" y="763587"/>
            <a:ext cx="5024437" cy="3767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52" name="Google Shape;252;p19:notes"/>
          <p:cNvSpPr txBox="1"/>
          <p:nvPr>
            <p:ph idx="1" type="body"/>
          </p:nvPr>
        </p:nvSpPr>
        <p:spPr>
          <a:xfrm>
            <a:off x="777875" y="4776787"/>
            <a:ext cx="6213475" cy="452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0: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76" name="Google Shape;276;p20:notes"/>
          <p:cNvSpPr/>
          <p:nvPr>
            <p:ph idx="2" type="sldImg"/>
          </p:nvPr>
        </p:nvSpPr>
        <p:spPr>
          <a:xfrm>
            <a:off x="1371600" y="763587"/>
            <a:ext cx="5024437" cy="3767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77" name="Google Shape;277;p20:notes"/>
          <p:cNvSpPr txBox="1"/>
          <p:nvPr>
            <p:ph idx="1" type="body"/>
          </p:nvPr>
        </p:nvSpPr>
        <p:spPr>
          <a:xfrm>
            <a:off x="777875" y="4776787"/>
            <a:ext cx="6213475" cy="452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85" name="Google Shape;285;p21:notes"/>
          <p:cNvSpPr/>
          <p:nvPr>
            <p:ph idx="2" type="sldImg"/>
          </p:nvPr>
        </p:nvSpPr>
        <p:spPr>
          <a:xfrm>
            <a:off x="1371600" y="763587"/>
            <a:ext cx="5024437" cy="3767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86" name="Google Shape;286;p21:notes"/>
          <p:cNvSpPr txBox="1"/>
          <p:nvPr>
            <p:ph idx="1" type="body"/>
          </p:nvPr>
        </p:nvSpPr>
        <p:spPr>
          <a:xfrm>
            <a:off x="777875" y="4776787"/>
            <a:ext cx="6213475" cy="452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2: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294" name="Google Shape;294;p22:notes"/>
          <p:cNvSpPr/>
          <p:nvPr>
            <p:ph idx="2" type="sldImg"/>
          </p:nvPr>
        </p:nvSpPr>
        <p:spPr>
          <a:xfrm>
            <a:off x="1371600" y="763587"/>
            <a:ext cx="5024437" cy="3767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95" name="Google Shape;295;p22:notes"/>
          <p:cNvSpPr txBox="1"/>
          <p:nvPr>
            <p:ph idx="1" type="body"/>
          </p:nvPr>
        </p:nvSpPr>
        <p:spPr>
          <a:xfrm>
            <a:off x="777875" y="4776787"/>
            <a:ext cx="6213475" cy="452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3: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03" name="Google Shape;303;p23:notes"/>
          <p:cNvSpPr/>
          <p:nvPr>
            <p:ph idx="2" type="sldImg"/>
          </p:nvPr>
        </p:nvSpPr>
        <p:spPr>
          <a:xfrm>
            <a:off x="1371600" y="763587"/>
            <a:ext cx="5024437" cy="3767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04" name="Google Shape;304;p23:notes"/>
          <p:cNvSpPr txBox="1"/>
          <p:nvPr>
            <p:ph idx="1" type="body"/>
          </p:nvPr>
        </p:nvSpPr>
        <p:spPr>
          <a:xfrm>
            <a:off x="777875" y="4776787"/>
            <a:ext cx="6213475" cy="452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4: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11" name="Google Shape;311;p24:notes"/>
          <p:cNvSpPr/>
          <p:nvPr>
            <p:ph idx="2" type="sldImg"/>
          </p:nvPr>
        </p:nvSpPr>
        <p:spPr>
          <a:xfrm>
            <a:off x="1371600" y="763587"/>
            <a:ext cx="5024437" cy="3767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12" name="Google Shape;312;p24:notes"/>
          <p:cNvSpPr txBox="1"/>
          <p:nvPr>
            <p:ph idx="1" type="body"/>
          </p:nvPr>
        </p:nvSpPr>
        <p:spPr>
          <a:xfrm>
            <a:off x="777875" y="4776787"/>
            <a:ext cx="6213475" cy="452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5: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33" name="Google Shape;333;p25:notes"/>
          <p:cNvSpPr/>
          <p:nvPr>
            <p:ph idx="2" type="sldImg"/>
          </p:nvPr>
        </p:nvSpPr>
        <p:spPr>
          <a:xfrm>
            <a:off x="1373187" y="763587"/>
            <a:ext cx="5019675" cy="37655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34" name="Google Shape;334;p25:notes"/>
          <p:cNvSpPr txBox="1"/>
          <p:nvPr>
            <p:ph idx="1" type="body"/>
          </p:nvPr>
        </p:nvSpPr>
        <p:spPr>
          <a:xfrm>
            <a:off x="777875" y="4776787"/>
            <a:ext cx="6211887" cy="45196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6: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71" name="Google Shape;371;p26: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72" name="Google Shape;372;p26: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7: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79" name="Google Shape;379;p27: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80" name="Google Shape;380;p27: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8: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392" name="Google Shape;392;p28: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93" name="Google Shape;393;p28: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9: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00" name="Google Shape;400;p29: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01" name="Google Shape;401;p29: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0: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08" name="Google Shape;408;p30: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09" name="Google Shape;409;p30: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1: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19" name="Google Shape;419;p31: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20" name="Google Shape;420;p31: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2: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29" name="Google Shape;429;p32: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30" name="Google Shape;430;p32: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3:notes"/>
          <p:cNvSpPr txBox="1"/>
          <p:nvPr/>
        </p:nvSpPr>
        <p:spPr>
          <a:xfrm>
            <a:off x="4398962" y="9555162"/>
            <a:ext cx="3367087" cy="496887"/>
          </a:xfrm>
          <a:prstGeom prst="rect">
            <a:avLst/>
          </a:prstGeom>
          <a:noFill/>
          <a:ln>
            <a:noFill/>
          </a:ln>
        </p:spPr>
        <p:txBody>
          <a:bodyPr anchorCtr="0" anchor="b" bIns="0" lIns="0" spcFirstLastPara="1" rIns="0" wrap="square" tIns="0">
            <a:noAutofit/>
          </a:bodyPr>
          <a:lstStyle/>
          <a:p>
            <a:pPr indent="0" lvl="0" marL="0" marR="0" rtl="0" algn="r">
              <a:lnSpc>
                <a:spcPct val="95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
        <p:nvSpPr>
          <p:cNvPr id="441" name="Google Shape;441;p33:notes"/>
          <p:cNvSpPr/>
          <p:nvPr>
            <p:ph idx="2" type="sldImg"/>
          </p:nvPr>
        </p:nvSpPr>
        <p:spPr>
          <a:xfrm>
            <a:off x="1371600" y="763587"/>
            <a:ext cx="5026025" cy="376872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42" name="Google Shape;442;p33:notes"/>
          <p:cNvSpPr txBox="1"/>
          <p:nvPr>
            <p:ph idx="1" type="body"/>
          </p:nvPr>
        </p:nvSpPr>
        <p:spPr>
          <a:xfrm>
            <a:off x="777875" y="4776787"/>
            <a:ext cx="6215062" cy="45227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3000"/>
              </a:lnSpc>
              <a:spcBef>
                <a:spcPts val="0"/>
              </a:spcBef>
              <a:spcAft>
                <a:spcPts val="0"/>
              </a:spcAft>
              <a:buSzPts val="1400"/>
              <a:buNone/>
              <a:defRPr b="0" i="0" sz="1800" u="none">
                <a:solidFill>
                  <a:srgbClr val="FFFFFF"/>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9pPr>
          </a:lstStyle>
          <a:p/>
        </p:txBody>
      </p:sp>
      <p:sp>
        <p:nvSpPr>
          <p:cNvPr id="23" name="Google Shape;23;p3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3000"/>
              </a:lnSpc>
              <a:spcBef>
                <a:spcPts val="0"/>
              </a:spcBef>
              <a:spcAft>
                <a:spcPts val="0"/>
              </a:spcAft>
              <a:buSzPts val="1400"/>
              <a:buNone/>
              <a:defRPr b="0" i="0" sz="1800" u="none">
                <a:solidFill>
                  <a:srgbClr val="FFFFFF"/>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FFFFFF"/>
                </a:solidFill>
                <a:latin typeface="Arial"/>
                <a:ea typeface="Arial"/>
                <a:cs typeface="Arial"/>
                <a:sym typeface="Arial"/>
              </a:defRPr>
            </a:lvl9pPr>
          </a:lstStyle>
          <a:p/>
        </p:txBody>
      </p:sp>
      <p:sp>
        <p:nvSpPr>
          <p:cNvPr id="24" name="Google Shape;24;p35"/>
          <p:cNvSpPr txBox="1"/>
          <p:nvPr>
            <p:ph idx="12" type="sldNum"/>
          </p:nvPr>
        </p:nvSpPr>
        <p:spPr>
          <a:xfrm>
            <a:off x="7227887" y="6886575"/>
            <a:ext cx="2338387" cy="511175"/>
          </a:xfrm>
          <a:prstGeom prst="rect">
            <a:avLst/>
          </a:prstGeom>
          <a:noFill/>
          <a:ln>
            <a:noFill/>
          </a:ln>
        </p:spPr>
        <p:txBody>
          <a:bodyPr anchorCtr="0" anchor="t" bIns="0" lIns="0" spcFirstLastPara="1" rIns="0" wrap="square" tIns="0">
            <a:noAutofit/>
          </a:bodyPr>
          <a:lstStyle>
            <a:lvl1pPr indent="0" lvl="0" marL="0" algn="l">
              <a:lnSpc>
                <a:spcPct val="93000"/>
              </a:lnSpc>
              <a:spcBef>
                <a:spcPts val="0"/>
              </a:spcBef>
              <a:spcAft>
                <a:spcPts val="0"/>
              </a:spcAft>
              <a:buNone/>
              <a:defRPr/>
            </a:lvl1pPr>
            <a:lvl2pPr indent="0" lvl="1" marL="0" algn="l">
              <a:lnSpc>
                <a:spcPct val="93000"/>
              </a:lnSpc>
              <a:spcBef>
                <a:spcPts val="0"/>
              </a:spcBef>
              <a:spcAft>
                <a:spcPts val="0"/>
              </a:spcAft>
              <a:buNone/>
              <a:defRPr/>
            </a:lvl2pPr>
            <a:lvl3pPr indent="0" lvl="2" marL="0" algn="l">
              <a:lnSpc>
                <a:spcPct val="93000"/>
              </a:lnSpc>
              <a:spcBef>
                <a:spcPts val="0"/>
              </a:spcBef>
              <a:spcAft>
                <a:spcPts val="0"/>
              </a:spcAft>
              <a:buNone/>
              <a:defRPr/>
            </a:lvl3pPr>
            <a:lvl4pPr indent="0" lvl="3" marL="0" algn="l">
              <a:lnSpc>
                <a:spcPct val="93000"/>
              </a:lnSpc>
              <a:spcBef>
                <a:spcPts val="0"/>
              </a:spcBef>
              <a:spcAft>
                <a:spcPts val="0"/>
              </a:spcAft>
              <a:buNone/>
              <a:defRPr/>
            </a:lvl4pPr>
            <a:lvl5pPr indent="0" lvl="4" marL="0" algn="l">
              <a:lnSpc>
                <a:spcPct val="93000"/>
              </a:lnSpc>
              <a:spcBef>
                <a:spcPts val="0"/>
              </a:spcBef>
              <a:spcAft>
                <a:spcPts val="0"/>
              </a:spcAft>
              <a:buNone/>
              <a:defRPr/>
            </a:lvl5pPr>
            <a:lvl6pPr indent="0" lvl="5" marL="0" algn="l">
              <a:lnSpc>
                <a:spcPct val="93000"/>
              </a:lnSpc>
              <a:spcBef>
                <a:spcPts val="0"/>
              </a:spcBef>
              <a:spcAft>
                <a:spcPts val="0"/>
              </a:spcAft>
              <a:buNone/>
              <a:defRPr/>
            </a:lvl6pPr>
            <a:lvl7pPr indent="0" lvl="6" marL="0" algn="l">
              <a:lnSpc>
                <a:spcPct val="93000"/>
              </a:lnSpc>
              <a:spcBef>
                <a:spcPts val="0"/>
              </a:spcBef>
              <a:spcAft>
                <a:spcPts val="0"/>
              </a:spcAft>
              <a:buNone/>
              <a:defRPr/>
            </a:lvl7pPr>
            <a:lvl8pPr indent="0" lvl="7" marL="0" algn="l">
              <a:lnSpc>
                <a:spcPct val="93000"/>
              </a:lnSpc>
              <a:spcBef>
                <a:spcPts val="0"/>
              </a:spcBef>
              <a:spcAft>
                <a:spcPts val="0"/>
              </a:spcAft>
              <a:buNone/>
              <a:defRPr/>
            </a:lvl8pPr>
            <a:lvl9pPr indent="0" lvl="8" marL="0" algn="l">
              <a:lnSpc>
                <a:spcPct val="93000"/>
              </a:lnSpc>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4"/>
          <p:cNvSpPr txBox="1"/>
          <p:nvPr>
            <p:ph type="title"/>
          </p:nvPr>
        </p:nvSpPr>
        <p:spPr>
          <a:xfrm>
            <a:off x="503237" y="301625"/>
            <a:ext cx="9061450" cy="1252537"/>
          </a:xfrm>
          <a:prstGeom prst="rect">
            <a:avLst/>
          </a:prstGeom>
          <a:noFill/>
          <a:ln>
            <a:noFill/>
          </a:ln>
        </p:spPr>
        <p:txBody>
          <a:bodyPr anchorCtr="0" anchor="ctr" bIns="0" lIns="0" spcFirstLastPara="1" rIns="0" wrap="square" tIns="0">
            <a:noAutofit/>
          </a:bodyPr>
          <a:lstStyle>
            <a:lvl1pPr lvl="0" marR="0" rtl="0" algn="ctr">
              <a:lnSpc>
                <a:spcPct val="93000"/>
              </a:lnSpc>
              <a:spcBef>
                <a:spcPts val="0"/>
              </a:spcBef>
              <a:spcAft>
                <a:spcPts val="0"/>
              </a:spcAft>
              <a:buSzPts val="1400"/>
              <a:buNone/>
              <a:defRPr b="0" i="0" sz="4400" u="none" cap="none" strike="noStrike">
                <a:solidFill>
                  <a:srgbClr val="000000"/>
                </a:solidFill>
                <a:latin typeface="Arial"/>
                <a:ea typeface="Arial"/>
                <a:cs typeface="Arial"/>
                <a:sym typeface="Arial"/>
              </a:defRPr>
            </a:lvl1pPr>
            <a:lvl2pPr lvl="1" marR="0" rtl="0" algn="ctr">
              <a:lnSpc>
                <a:spcPct val="93000"/>
              </a:lnSpc>
              <a:spcBef>
                <a:spcPts val="0"/>
              </a:spcBef>
              <a:spcAft>
                <a:spcPts val="0"/>
              </a:spcAft>
              <a:buSzPts val="1400"/>
              <a:buNone/>
              <a:defRPr b="0" i="0" sz="4400" u="none" cap="none" strike="noStrike">
                <a:solidFill>
                  <a:srgbClr val="000000"/>
                </a:solidFill>
                <a:latin typeface="Arial"/>
                <a:ea typeface="Arial"/>
                <a:cs typeface="Arial"/>
                <a:sym typeface="Arial"/>
              </a:defRPr>
            </a:lvl2pPr>
            <a:lvl3pPr lvl="2" marR="0" rtl="0" algn="ctr">
              <a:lnSpc>
                <a:spcPct val="93000"/>
              </a:lnSpc>
              <a:spcBef>
                <a:spcPts val="0"/>
              </a:spcBef>
              <a:spcAft>
                <a:spcPts val="0"/>
              </a:spcAft>
              <a:buSzPts val="1400"/>
              <a:buNone/>
              <a:defRPr b="0" i="0" sz="4400" u="none" cap="none" strike="noStrike">
                <a:solidFill>
                  <a:srgbClr val="000000"/>
                </a:solidFill>
                <a:latin typeface="Arial"/>
                <a:ea typeface="Arial"/>
                <a:cs typeface="Arial"/>
                <a:sym typeface="Arial"/>
              </a:defRPr>
            </a:lvl3pPr>
            <a:lvl4pPr lvl="3" marR="0" rtl="0" algn="ctr">
              <a:lnSpc>
                <a:spcPct val="93000"/>
              </a:lnSpc>
              <a:spcBef>
                <a:spcPts val="0"/>
              </a:spcBef>
              <a:spcAft>
                <a:spcPts val="0"/>
              </a:spcAft>
              <a:buSzPts val="1400"/>
              <a:buNone/>
              <a:defRPr b="0" i="0" sz="4400" u="none" cap="none" strike="noStrike">
                <a:solidFill>
                  <a:srgbClr val="000000"/>
                </a:solidFill>
                <a:latin typeface="Arial"/>
                <a:ea typeface="Arial"/>
                <a:cs typeface="Arial"/>
                <a:sym typeface="Arial"/>
              </a:defRPr>
            </a:lvl4pPr>
            <a:lvl5pPr lvl="4" marR="0" rtl="0" algn="ctr">
              <a:lnSpc>
                <a:spcPct val="93000"/>
              </a:lnSpc>
              <a:spcBef>
                <a:spcPts val="0"/>
              </a:spcBef>
              <a:spcAft>
                <a:spcPts val="0"/>
              </a:spcAft>
              <a:buSzPts val="1400"/>
              <a:buNone/>
              <a:defRPr b="0" i="0" sz="4400" u="none" cap="none" strike="noStrike">
                <a:solidFill>
                  <a:srgbClr val="000000"/>
                </a:solidFill>
                <a:latin typeface="Arial"/>
                <a:ea typeface="Arial"/>
                <a:cs typeface="Arial"/>
                <a:sym typeface="Arial"/>
              </a:defRPr>
            </a:lvl5pPr>
            <a:lvl6pPr lvl="5" marR="0" rtl="0" algn="ctr">
              <a:lnSpc>
                <a:spcPct val="93000"/>
              </a:lnSpc>
              <a:spcBef>
                <a:spcPts val="0"/>
              </a:spcBef>
              <a:spcAft>
                <a:spcPts val="0"/>
              </a:spcAft>
              <a:buSzPts val="1400"/>
              <a:buNone/>
              <a:defRPr b="0" i="0" sz="4400" u="none" cap="none" strike="noStrike">
                <a:solidFill>
                  <a:srgbClr val="000000"/>
                </a:solidFill>
                <a:latin typeface="Arial"/>
                <a:ea typeface="Arial"/>
                <a:cs typeface="Arial"/>
                <a:sym typeface="Arial"/>
              </a:defRPr>
            </a:lvl6pPr>
            <a:lvl7pPr lvl="6" marR="0" rtl="0" algn="ctr">
              <a:lnSpc>
                <a:spcPct val="93000"/>
              </a:lnSpc>
              <a:spcBef>
                <a:spcPts val="0"/>
              </a:spcBef>
              <a:spcAft>
                <a:spcPts val="0"/>
              </a:spcAft>
              <a:buSzPts val="1400"/>
              <a:buNone/>
              <a:defRPr b="0" i="0" sz="4400" u="none" cap="none" strike="noStrike">
                <a:solidFill>
                  <a:srgbClr val="000000"/>
                </a:solidFill>
                <a:latin typeface="Arial"/>
                <a:ea typeface="Arial"/>
                <a:cs typeface="Arial"/>
                <a:sym typeface="Arial"/>
              </a:defRPr>
            </a:lvl7pPr>
            <a:lvl8pPr lvl="7" marR="0" rtl="0" algn="ctr">
              <a:lnSpc>
                <a:spcPct val="93000"/>
              </a:lnSpc>
              <a:spcBef>
                <a:spcPts val="0"/>
              </a:spcBef>
              <a:spcAft>
                <a:spcPts val="0"/>
              </a:spcAft>
              <a:buSzPts val="1400"/>
              <a:buNone/>
              <a:defRPr b="0" i="0" sz="4400" u="none" cap="none" strike="noStrike">
                <a:solidFill>
                  <a:srgbClr val="000000"/>
                </a:solidFill>
                <a:latin typeface="Arial"/>
                <a:ea typeface="Arial"/>
                <a:cs typeface="Arial"/>
                <a:sym typeface="Arial"/>
              </a:defRPr>
            </a:lvl8pPr>
            <a:lvl9pPr lvl="8" marR="0" rtl="0" algn="ctr">
              <a:lnSpc>
                <a:spcPct val="93000"/>
              </a:lnSpc>
              <a:spcBef>
                <a:spcPts val="0"/>
              </a:spcBef>
              <a:spcAft>
                <a:spcPts val="0"/>
              </a:spcAft>
              <a:buSzPts val="1400"/>
              <a:buNone/>
              <a:defRPr b="0" i="0" sz="4400" u="none" cap="none" strike="noStrike">
                <a:solidFill>
                  <a:srgbClr val="000000"/>
                </a:solidFill>
                <a:latin typeface="Arial"/>
                <a:ea typeface="Arial"/>
                <a:cs typeface="Arial"/>
                <a:sym typeface="Arial"/>
              </a:defRPr>
            </a:lvl9pPr>
          </a:lstStyle>
          <a:p/>
        </p:txBody>
      </p:sp>
      <p:sp>
        <p:nvSpPr>
          <p:cNvPr id="17" name="Google Shape;17;p34"/>
          <p:cNvSpPr txBox="1"/>
          <p:nvPr>
            <p:ph idx="1" type="body"/>
          </p:nvPr>
        </p:nvSpPr>
        <p:spPr>
          <a:xfrm>
            <a:off x="503237" y="1768475"/>
            <a:ext cx="9061450" cy="4979987"/>
          </a:xfrm>
          <a:prstGeom prst="rect">
            <a:avLst/>
          </a:prstGeom>
          <a:noFill/>
          <a:ln>
            <a:noFill/>
          </a:ln>
        </p:spPr>
        <p:txBody>
          <a:bodyPr anchorCtr="0" anchor="t" bIns="0" lIns="0" spcFirstLastPara="1" rIns="0" wrap="square" tIns="28075">
            <a:noAutofit/>
          </a:bodyPr>
          <a:lstStyle>
            <a:lvl1pPr indent="-228600" lvl="0" marL="457200" marR="0" rtl="0" algn="l">
              <a:lnSpc>
                <a:spcPct val="93000"/>
              </a:lnSpc>
              <a:spcBef>
                <a:spcPts val="0"/>
              </a:spcBef>
              <a:spcAft>
                <a:spcPts val="0"/>
              </a:spcAft>
              <a:buSzPts val="1400"/>
              <a:buNone/>
              <a:defRPr b="0" i="0" sz="3200" u="none" cap="none" strike="noStrike">
                <a:solidFill>
                  <a:srgbClr val="000000"/>
                </a:solidFill>
                <a:latin typeface="Arial"/>
                <a:ea typeface="Arial"/>
                <a:cs typeface="Arial"/>
                <a:sym typeface="Arial"/>
              </a:defRPr>
            </a:lvl1pPr>
            <a:lvl2pPr indent="-228600" lvl="1" marL="914400" marR="0" rtl="0" algn="l">
              <a:lnSpc>
                <a:spcPct val="93000"/>
              </a:lnSpc>
              <a:spcBef>
                <a:spcPts val="1400"/>
              </a:spcBef>
              <a:spcAft>
                <a:spcPts val="0"/>
              </a:spcAft>
              <a:buSzPts val="1400"/>
              <a:buNone/>
              <a:defRPr b="0" i="0" sz="2800" u="none" cap="none" strike="noStrike">
                <a:solidFill>
                  <a:srgbClr val="000000"/>
                </a:solidFill>
                <a:latin typeface="Arial"/>
                <a:ea typeface="Arial"/>
                <a:cs typeface="Arial"/>
                <a:sym typeface="Arial"/>
              </a:defRPr>
            </a:lvl2pPr>
            <a:lvl3pPr indent="-228600" lvl="2" marL="1371600" marR="0" rtl="0" algn="l">
              <a:lnSpc>
                <a:spcPct val="93000"/>
              </a:lnSpc>
              <a:spcBef>
                <a:spcPts val="1100"/>
              </a:spcBef>
              <a:spcAft>
                <a:spcPts val="0"/>
              </a:spcAft>
              <a:buSzPts val="1400"/>
              <a:buNone/>
              <a:defRPr b="0" i="0" sz="2400" u="none" cap="none" strike="noStrike">
                <a:solidFill>
                  <a:srgbClr val="000000"/>
                </a:solidFill>
                <a:latin typeface="Arial"/>
                <a:ea typeface="Arial"/>
                <a:cs typeface="Arial"/>
                <a:sym typeface="Arial"/>
              </a:defRPr>
            </a:lvl3pPr>
            <a:lvl4pPr indent="-228600" lvl="3" marL="1828800" marR="0" rtl="0" algn="l">
              <a:lnSpc>
                <a:spcPct val="93000"/>
              </a:lnSpc>
              <a:spcBef>
                <a:spcPts val="800"/>
              </a:spcBef>
              <a:spcAft>
                <a:spcPts val="0"/>
              </a:spcAft>
              <a:buSzPts val="1400"/>
              <a:buNone/>
              <a:defRPr b="0" i="0" sz="2000" u="none" cap="none" strike="noStrike">
                <a:solidFill>
                  <a:srgbClr val="000000"/>
                </a:solidFill>
                <a:latin typeface="Arial"/>
                <a:ea typeface="Arial"/>
                <a:cs typeface="Arial"/>
                <a:sym typeface="Arial"/>
              </a:defRPr>
            </a:lvl4pPr>
            <a:lvl5pPr indent="-228600" lvl="4" marL="2286000" marR="0" rtl="0" algn="l">
              <a:lnSpc>
                <a:spcPct val="93000"/>
              </a:lnSpc>
              <a:spcBef>
                <a:spcPts val="500"/>
              </a:spcBef>
              <a:spcAft>
                <a:spcPts val="0"/>
              </a:spcAft>
              <a:buSzPts val="1400"/>
              <a:buNone/>
              <a:defRPr b="0" i="0" sz="2000" u="none" cap="none" strike="noStrike">
                <a:solidFill>
                  <a:srgbClr val="000000"/>
                </a:solidFill>
                <a:latin typeface="Arial"/>
                <a:ea typeface="Arial"/>
                <a:cs typeface="Arial"/>
                <a:sym typeface="Arial"/>
              </a:defRPr>
            </a:lvl5pPr>
            <a:lvl6pPr indent="-228600" lvl="5" marL="2743200" marR="0" rtl="0" algn="l">
              <a:lnSpc>
                <a:spcPct val="93000"/>
              </a:lnSpc>
              <a:spcBef>
                <a:spcPts val="200"/>
              </a:spcBef>
              <a:spcAft>
                <a:spcPts val="0"/>
              </a:spcAft>
              <a:buSzPts val="1400"/>
              <a:buNone/>
              <a:defRPr b="0" i="0" sz="2000" u="none" cap="none" strike="noStrike">
                <a:solidFill>
                  <a:srgbClr val="000000"/>
                </a:solidFill>
                <a:latin typeface="Arial"/>
                <a:ea typeface="Arial"/>
                <a:cs typeface="Arial"/>
                <a:sym typeface="Arial"/>
              </a:defRPr>
            </a:lvl6pPr>
            <a:lvl7pPr indent="-228600" lvl="6" marL="3200400" marR="0" rtl="0" algn="l">
              <a:lnSpc>
                <a:spcPct val="93000"/>
              </a:lnSpc>
              <a:spcBef>
                <a:spcPts val="200"/>
              </a:spcBef>
              <a:spcAft>
                <a:spcPts val="0"/>
              </a:spcAft>
              <a:buSzPts val="1400"/>
              <a:buNone/>
              <a:defRPr b="0" i="0" sz="2000" u="none" cap="none" strike="noStrike">
                <a:solidFill>
                  <a:srgbClr val="000000"/>
                </a:solidFill>
                <a:latin typeface="Arial"/>
                <a:ea typeface="Arial"/>
                <a:cs typeface="Arial"/>
                <a:sym typeface="Arial"/>
              </a:defRPr>
            </a:lvl7pPr>
            <a:lvl8pPr indent="-228600" lvl="7" marL="3657600" marR="0" rtl="0" algn="l">
              <a:lnSpc>
                <a:spcPct val="93000"/>
              </a:lnSpc>
              <a:spcBef>
                <a:spcPts val="200"/>
              </a:spcBef>
              <a:spcAft>
                <a:spcPts val="0"/>
              </a:spcAft>
              <a:buSzPts val="1400"/>
              <a:buNone/>
              <a:defRPr b="0" i="0" sz="2000" u="none" cap="none" strike="noStrike">
                <a:solidFill>
                  <a:srgbClr val="000000"/>
                </a:solidFill>
                <a:latin typeface="Arial"/>
                <a:ea typeface="Arial"/>
                <a:cs typeface="Arial"/>
                <a:sym typeface="Arial"/>
              </a:defRPr>
            </a:lvl8pPr>
            <a:lvl9pPr indent="-228600" lvl="8" marL="4114800" marR="0" rtl="0" algn="l">
              <a:lnSpc>
                <a:spcPct val="93000"/>
              </a:lnSpc>
              <a:spcBef>
                <a:spcPts val="200"/>
              </a:spcBef>
              <a:spcAft>
                <a:spcPts val="200"/>
              </a:spcAft>
              <a:buSzPts val="1400"/>
              <a:buNone/>
              <a:defRPr b="0" i="0" sz="2000" u="none" cap="none" strike="noStrike">
                <a:solidFill>
                  <a:srgbClr val="000000"/>
                </a:solidFill>
                <a:latin typeface="Arial"/>
                <a:ea typeface="Arial"/>
                <a:cs typeface="Arial"/>
                <a:sym typeface="Arial"/>
              </a:defRPr>
            </a:lvl9pPr>
          </a:lstStyle>
          <a:p/>
        </p:txBody>
      </p:sp>
      <p:sp>
        <p:nvSpPr>
          <p:cNvPr id="18" name="Google Shape;18;p34"/>
          <p:cNvSpPr/>
          <p:nvPr/>
        </p:nvSpPr>
        <p:spPr>
          <a:xfrm>
            <a:off x="503237" y="6886575"/>
            <a:ext cx="2341562" cy="51435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9" name="Google Shape;19;p34"/>
          <p:cNvSpPr/>
          <p:nvPr/>
        </p:nvSpPr>
        <p:spPr>
          <a:xfrm>
            <a:off x="3448050" y="6886575"/>
            <a:ext cx="3189287" cy="51435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20" name="Google Shape;20;p34"/>
          <p:cNvSpPr txBox="1"/>
          <p:nvPr>
            <p:ph idx="12" type="sldNum"/>
          </p:nvPr>
        </p:nvSpPr>
        <p:spPr>
          <a:xfrm>
            <a:off x="7227887" y="6886575"/>
            <a:ext cx="2338387" cy="511175"/>
          </a:xfrm>
          <a:prstGeom prst="rect">
            <a:avLst/>
          </a:prstGeom>
          <a:noFill/>
          <a:ln>
            <a:noFill/>
          </a:ln>
        </p:spPr>
        <p:txBody>
          <a:bodyPr anchorCtr="0" anchor="t" bIns="0" lIns="0" spcFirstLastPara="1" rIns="0" wrap="square" tIns="0">
            <a:noAutofit/>
          </a:bodyPr>
          <a:lstStyle>
            <a:lvl1pPr indent="0" lvl="0" marL="0" marR="0" rtl="0" algn="l">
              <a:lnSpc>
                <a:spcPct val="93000"/>
              </a:lnSpc>
              <a:spcBef>
                <a:spcPts val="0"/>
              </a:spcBef>
              <a:spcAft>
                <a:spcPts val="0"/>
              </a:spcAft>
              <a:buClr>
                <a:srgbClr val="FFFFFF"/>
              </a:buClr>
              <a:buSzPts val="1800"/>
              <a:buFont typeface="Arial"/>
              <a:buNone/>
              <a:defRPr b="0" i="0" sz="1800" u="none">
                <a:solidFill>
                  <a:srgbClr val="FFFFFF"/>
                </a:solidFill>
                <a:latin typeface="Arial"/>
                <a:ea typeface="Arial"/>
                <a:cs typeface="Arial"/>
                <a:sym typeface="Arial"/>
              </a:defRPr>
            </a:lvl1pPr>
            <a:lvl2pPr indent="0" lvl="1" marL="0" marR="0" rtl="0" algn="l">
              <a:lnSpc>
                <a:spcPct val="93000"/>
              </a:lnSpc>
              <a:spcBef>
                <a:spcPts val="0"/>
              </a:spcBef>
              <a:spcAft>
                <a:spcPts val="0"/>
              </a:spcAft>
              <a:buClr>
                <a:srgbClr val="FFFFFF"/>
              </a:buClr>
              <a:buSzPts val="1800"/>
              <a:buFont typeface="Arial"/>
              <a:buNone/>
              <a:defRPr b="0" i="0" sz="1800" u="none">
                <a:solidFill>
                  <a:srgbClr val="FFFFFF"/>
                </a:solidFill>
                <a:latin typeface="Arial"/>
                <a:ea typeface="Arial"/>
                <a:cs typeface="Arial"/>
                <a:sym typeface="Arial"/>
              </a:defRPr>
            </a:lvl2pPr>
            <a:lvl3pPr indent="0" lvl="2" marL="0" marR="0" rtl="0" algn="l">
              <a:lnSpc>
                <a:spcPct val="93000"/>
              </a:lnSpc>
              <a:spcBef>
                <a:spcPts val="0"/>
              </a:spcBef>
              <a:spcAft>
                <a:spcPts val="0"/>
              </a:spcAft>
              <a:buClr>
                <a:srgbClr val="FFFFFF"/>
              </a:buClr>
              <a:buSzPts val="1800"/>
              <a:buFont typeface="Arial"/>
              <a:buNone/>
              <a:defRPr b="0" i="0" sz="1800" u="none">
                <a:solidFill>
                  <a:srgbClr val="FFFFFF"/>
                </a:solidFill>
                <a:latin typeface="Arial"/>
                <a:ea typeface="Arial"/>
                <a:cs typeface="Arial"/>
                <a:sym typeface="Arial"/>
              </a:defRPr>
            </a:lvl3pPr>
            <a:lvl4pPr indent="0" lvl="3" marL="0" marR="0" rtl="0" algn="l">
              <a:lnSpc>
                <a:spcPct val="93000"/>
              </a:lnSpc>
              <a:spcBef>
                <a:spcPts val="0"/>
              </a:spcBef>
              <a:spcAft>
                <a:spcPts val="0"/>
              </a:spcAft>
              <a:buClr>
                <a:srgbClr val="FFFFFF"/>
              </a:buClr>
              <a:buSzPts val="1800"/>
              <a:buFont typeface="Arial"/>
              <a:buNone/>
              <a:defRPr b="0" i="0" sz="1800" u="none">
                <a:solidFill>
                  <a:srgbClr val="FFFFFF"/>
                </a:solidFill>
                <a:latin typeface="Arial"/>
                <a:ea typeface="Arial"/>
                <a:cs typeface="Arial"/>
                <a:sym typeface="Arial"/>
              </a:defRPr>
            </a:lvl4pPr>
            <a:lvl5pPr indent="0" lvl="4" marL="0" marR="0" rtl="0" algn="l">
              <a:lnSpc>
                <a:spcPct val="93000"/>
              </a:lnSpc>
              <a:spcBef>
                <a:spcPts val="0"/>
              </a:spcBef>
              <a:spcAft>
                <a:spcPts val="0"/>
              </a:spcAft>
              <a:buClr>
                <a:srgbClr val="FFFFFF"/>
              </a:buClr>
              <a:buSzPts val="1800"/>
              <a:buFont typeface="Arial"/>
              <a:buNone/>
              <a:defRPr b="0" i="0" sz="1800" u="none">
                <a:solidFill>
                  <a:srgbClr val="FFFFFF"/>
                </a:solidFill>
                <a:latin typeface="Arial"/>
                <a:ea typeface="Arial"/>
                <a:cs typeface="Arial"/>
                <a:sym typeface="Arial"/>
              </a:defRPr>
            </a:lvl5pPr>
            <a:lvl6pPr indent="0" lvl="5" marL="0" marR="0" rtl="0" algn="l">
              <a:lnSpc>
                <a:spcPct val="93000"/>
              </a:lnSpc>
              <a:spcBef>
                <a:spcPts val="0"/>
              </a:spcBef>
              <a:spcAft>
                <a:spcPts val="0"/>
              </a:spcAft>
              <a:buClr>
                <a:srgbClr val="FFFFFF"/>
              </a:buClr>
              <a:buSzPts val="1800"/>
              <a:buFont typeface="Arial"/>
              <a:buNone/>
              <a:defRPr b="0" i="0" sz="1800" u="none">
                <a:solidFill>
                  <a:srgbClr val="FFFFFF"/>
                </a:solidFill>
                <a:latin typeface="Arial"/>
                <a:ea typeface="Arial"/>
                <a:cs typeface="Arial"/>
                <a:sym typeface="Arial"/>
              </a:defRPr>
            </a:lvl6pPr>
            <a:lvl7pPr indent="0" lvl="6" marL="0" marR="0" rtl="0" algn="l">
              <a:lnSpc>
                <a:spcPct val="93000"/>
              </a:lnSpc>
              <a:spcBef>
                <a:spcPts val="0"/>
              </a:spcBef>
              <a:spcAft>
                <a:spcPts val="0"/>
              </a:spcAft>
              <a:buClr>
                <a:srgbClr val="FFFFFF"/>
              </a:buClr>
              <a:buSzPts val="1800"/>
              <a:buFont typeface="Arial"/>
              <a:buNone/>
              <a:defRPr b="0" i="0" sz="1800" u="none">
                <a:solidFill>
                  <a:srgbClr val="FFFFFF"/>
                </a:solidFill>
                <a:latin typeface="Arial"/>
                <a:ea typeface="Arial"/>
                <a:cs typeface="Arial"/>
                <a:sym typeface="Arial"/>
              </a:defRPr>
            </a:lvl7pPr>
            <a:lvl8pPr indent="0" lvl="7" marL="0" marR="0" rtl="0" algn="l">
              <a:lnSpc>
                <a:spcPct val="93000"/>
              </a:lnSpc>
              <a:spcBef>
                <a:spcPts val="0"/>
              </a:spcBef>
              <a:spcAft>
                <a:spcPts val="0"/>
              </a:spcAft>
              <a:buClr>
                <a:srgbClr val="FFFFFF"/>
              </a:buClr>
              <a:buSzPts val="1800"/>
              <a:buFont typeface="Arial"/>
              <a:buNone/>
              <a:defRPr b="0" i="0" sz="1800" u="none">
                <a:solidFill>
                  <a:srgbClr val="FFFFFF"/>
                </a:solidFill>
                <a:latin typeface="Arial"/>
                <a:ea typeface="Arial"/>
                <a:cs typeface="Arial"/>
                <a:sym typeface="Arial"/>
              </a:defRPr>
            </a:lvl8pPr>
            <a:lvl9pPr indent="0" lvl="8" marL="0" marR="0" rtl="0" algn="l">
              <a:lnSpc>
                <a:spcPct val="93000"/>
              </a:lnSpc>
              <a:spcBef>
                <a:spcPts val="0"/>
              </a:spcBef>
              <a:spcAft>
                <a:spcPts val="0"/>
              </a:spcAft>
              <a:buClr>
                <a:srgbClr val="FFFFFF"/>
              </a:buClr>
              <a:buSzPts val="1800"/>
              <a:buFont typeface="Arial"/>
              <a:buNone/>
              <a:defRPr b="0" i="0" sz="18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8.jpg"/><Relationship Id="rId5"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www.sencha.com/" TargetMode="External"/><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1"/>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
        <p:nvSpPr>
          <p:cNvPr id="31" name="Google Shape;31;p1"/>
          <p:cNvSpPr txBox="1"/>
          <p:nvPr/>
        </p:nvSpPr>
        <p:spPr>
          <a:xfrm>
            <a:off x="503237" y="2352675"/>
            <a:ext cx="9070975" cy="1262062"/>
          </a:xfrm>
          <a:prstGeom prst="rect">
            <a:avLst/>
          </a:prstGeom>
          <a:noFill/>
          <a:ln>
            <a:noFill/>
          </a:ln>
        </p:spPr>
        <p:txBody>
          <a:bodyPr anchorCtr="0" anchor="ctr" bIns="0" lIns="0" spcFirstLastPara="1" rIns="0" wrap="square" tIns="38875">
            <a:noAutofit/>
          </a:bodyPr>
          <a:lstStyle/>
          <a:p>
            <a:pPr indent="0" lvl="0" marL="0" marR="0" rtl="0" algn="ctr">
              <a:lnSpc>
                <a:spcPct val="93000"/>
              </a:lnSpc>
              <a:spcBef>
                <a:spcPts val="0"/>
              </a:spcBef>
              <a:spcAft>
                <a:spcPts val="0"/>
              </a:spcAft>
              <a:buClr>
                <a:srgbClr val="000000"/>
              </a:buClr>
              <a:buSzPts val="4400"/>
              <a:buFont typeface="Arial"/>
              <a:buNone/>
            </a:pPr>
            <a:r>
              <a:rPr b="0" i="0" lang="en-US" sz="4400" u="none">
                <a:solidFill>
                  <a:srgbClr val="000000"/>
                </a:solidFill>
                <a:latin typeface="Arial"/>
                <a:ea typeface="Arial"/>
                <a:cs typeface="Arial"/>
                <a:sym typeface="Arial"/>
              </a:rPr>
              <a:t>Octopus Cloud Interactive Platform</a:t>
            </a:r>
            <a:br>
              <a:rPr b="0" i="0" lang="en-US" sz="4400" u="none">
                <a:solidFill>
                  <a:srgbClr val="000000"/>
                </a:solidFill>
                <a:latin typeface="Arial"/>
                <a:ea typeface="Arial"/>
                <a:cs typeface="Arial"/>
                <a:sym typeface="Arial"/>
              </a:rPr>
            </a:br>
            <a:r>
              <a:rPr b="0" i="0" lang="en-US" sz="3600" u="none">
                <a:solidFill>
                  <a:srgbClr val="000000"/>
                </a:solidFill>
                <a:latin typeface="Arial"/>
                <a:ea typeface="Arial"/>
                <a:cs typeface="Arial"/>
                <a:sym typeface="Arial"/>
              </a:rPr>
              <a:t>(Octopus CIP)</a:t>
            </a:r>
            <a:endParaRPr/>
          </a:p>
        </p:txBody>
      </p:sp>
      <p:sp>
        <p:nvSpPr>
          <p:cNvPr id="32" name="Google Shape;32;p1"/>
          <p:cNvSpPr txBox="1"/>
          <p:nvPr/>
        </p:nvSpPr>
        <p:spPr>
          <a:xfrm>
            <a:off x="503237" y="1768475"/>
            <a:ext cx="9070975" cy="4989512"/>
          </a:xfrm>
          <a:prstGeom prst="rect">
            <a:avLst/>
          </a:prstGeom>
          <a:noFill/>
          <a:ln>
            <a:noFill/>
          </a:ln>
        </p:spPr>
        <p:txBody>
          <a:bodyPr anchorCtr="0" anchor="ctr" bIns="0" lIns="0" spcFirstLastPara="1" rIns="0" wrap="square" tIns="28075">
            <a:noAutofit/>
          </a:bodyPr>
          <a:lstStyle/>
          <a:p>
            <a:pPr indent="-334962" lvl="0" marL="342900" marR="0" rtl="0" algn="ctr">
              <a:lnSpc>
                <a:spcPct val="93000"/>
              </a:lnSpc>
              <a:spcBef>
                <a:spcPts val="0"/>
              </a:spcBef>
              <a:spcAft>
                <a:spcPts val="0"/>
              </a:spcAft>
              <a:buClr>
                <a:srgbClr val="000000"/>
              </a:buClr>
              <a:buSzPts val="3200"/>
              <a:buFont typeface="Arial"/>
              <a:buNone/>
            </a:pPr>
            <a:r>
              <a:rPr b="0" i="0" lang="en-US" sz="3200" u="none">
                <a:solidFill>
                  <a:srgbClr val="000000"/>
                </a:solidFill>
                <a:latin typeface="Arial"/>
                <a:ea typeface="Arial"/>
                <a:cs typeface="Arial"/>
                <a:sym typeface="Arial"/>
              </a:rPr>
              <a:t>    </a:t>
            </a:r>
            <a:endParaRPr/>
          </a:p>
        </p:txBody>
      </p:sp>
      <p:sp>
        <p:nvSpPr>
          <p:cNvPr id="33" name="Google Shape;33;p1"/>
          <p:cNvSpPr txBox="1"/>
          <p:nvPr/>
        </p:nvSpPr>
        <p:spPr>
          <a:xfrm>
            <a:off x="6440487" y="4318000"/>
            <a:ext cx="3016250" cy="34448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1" lang="en-US" sz="1800" u="none">
                <a:solidFill>
                  <a:srgbClr val="000000"/>
                </a:solidFill>
                <a:latin typeface="Arial"/>
                <a:ea typeface="Arial"/>
                <a:cs typeface="Arial"/>
                <a:sym typeface="Arial"/>
              </a:rPr>
              <a:t>It works, because it's simple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2"/>
          <p:cNvSpPr txBox="1"/>
          <p:nvPr/>
        </p:nvSpPr>
        <p:spPr>
          <a:xfrm>
            <a:off x="503237" y="20637"/>
            <a:ext cx="9070975" cy="1258887"/>
          </a:xfrm>
          <a:prstGeom prst="rect">
            <a:avLst/>
          </a:prstGeom>
          <a:noFill/>
          <a:ln>
            <a:noFill/>
          </a:ln>
        </p:spPr>
        <p:txBody>
          <a:bodyPr anchorCtr="0" anchor="ctr" bIns="0" lIns="0" spcFirstLastPara="1" rIns="0" wrap="square" tIns="38875">
            <a:noAutofit/>
          </a:bodyPr>
          <a:lstStyle/>
          <a:p>
            <a:pPr indent="0" lvl="0" marL="0" marR="0" rtl="0" algn="ctr">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Content</a:t>
            </a:r>
            <a:endParaRPr/>
          </a:p>
        </p:txBody>
      </p:sp>
      <p:sp>
        <p:nvSpPr>
          <p:cNvPr id="40" name="Google Shape;40;p2"/>
          <p:cNvSpPr txBox="1"/>
          <p:nvPr/>
        </p:nvSpPr>
        <p:spPr>
          <a:xfrm>
            <a:off x="682625" y="1371600"/>
            <a:ext cx="6488112" cy="411321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Introduction to Octopus CIP</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Base principles</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Octopus CIP foundation</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Octopus building blocks: processors and models</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Octopus CIP Formation (architecture)</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Octopus CIP web services:</a:t>
            </a:r>
            <a:endParaRPr/>
          </a:p>
          <a:p>
            <a:pPr indent="-279400" lvl="1" marL="736600"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Interactive Statistical Analysis as a Service (iSaaS)</a:t>
            </a:r>
            <a:endParaRPr/>
          </a:p>
          <a:p>
            <a:pPr indent="-279400" lvl="1" marL="736600"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Interactive Optimization as a Service (iOaaS)</a:t>
            </a:r>
            <a:endParaRPr/>
          </a:p>
          <a:p>
            <a:pPr indent="-279400" lvl="1" marL="736600"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Interactive Network management as a Service (iNaaS);</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Octopus CIP User Interfaces (UI):</a:t>
            </a:r>
            <a:endParaRPr/>
          </a:p>
          <a:p>
            <a:pPr indent="-279400" lvl="1" marL="736600"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Octopus IDE plug-ins and Designer</a:t>
            </a:r>
            <a:endParaRPr/>
          </a:p>
          <a:p>
            <a:pPr indent="-279400" lvl="1" marL="736600"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Octopus Elastic Spread Sheet (Octopus ES2)</a:t>
            </a:r>
            <a:endParaRPr/>
          </a:p>
          <a:p>
            <a:pPr indent="-279400" lvl="1" marL="736600"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Google Spread Sheet as a UI for Octopus CIP</a:t>
            </a:r>
            <a:endParaRPr/>
          </a:p>
          <a:p>
            <a:pPr indent="-279400" lvl="1" marL="736600"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Custom UI and visualizations</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CIP integration with existing applications</a:t>
            </a:r>
            <a:endParaRPr/>
          </a:p>
        </p:txBody>
      </p:sp>
      <p:sp>
        <p:nvSpPr>
          <p:cNvPr id="41" name="Google Shape;41;p2"/>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 name="Shape 46"/>
        <p:cNvGrpSpPr/>
        <p:nvPr/>
      </p:nvGrpSpPr>
      <p:grpSpPr>
        <a:xfrm>
          <a:off x="0" y="0"/>
          <a:ext cx="0" cy="0"/>
          <a:chOff x="0" y="0"/>
          <a:chExt cx="0" cy="0"/>
        </a:xfrm>
      </p:grpSpPr>
      <p:sp>
        <p:nvSpPr>
          <p:cNvPr id="47" name="Google Shape;47;p3"/>
          <p:cNvSpPr txBox="1"/>
          <p:nvPr/>
        </p:nvSpPr>
        <p:spPr>
          <a:xfrm>
            <a:off x="503237" y="301625"/>
            <a:ext cx="9070975" cy="1262062"/>
          </a:xfrm>
          <a:prstGeom prst="rect">
            <a:avLst/>
          </a:prstGeom>
          <a:noFill/>
          <a:ln>
            <a:noFill/>
          </a:ln>
        </p:spPr>
        <p:txBody>
          <a:bodyPr anchorCtr="0" anchor="ctr" bIns="0" lIns="0" spcFirstLastPara="1" rIns="0" wrap="square" tIns="38875">
            <a:noAutofit/>
          </a:bodyPr>
          <a:lstStyle/>
          <a:p>
            <a:pPr indent="0" lvl="0" marL="0" marR="0" rtl="0" algn="ctr">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Introduction to Octopus CIP</a:t>
            </a:r>
            <a:endParaRPr/>
          </a:p>
        </p:txBody>
      </p:sp>
      <p:sp>
        <p:nvSpPr>
          <p:cNvPr id="48" name="Google Shape;48;p3"/>
          <p:cNvSpPr txBox="1"/>
          <p:nvPr/>
        </p:nvSpPr>
        <p:spPr>
          <a:xfrm>
            <a:off x="503237" y="1768475"/>
            <a:ext cx="9070975" cy="4989512"/>
          </a:xfrm>
          <a:prstGeom prst="rect">
            <a:avLst/>
          </a:prstGeom>
          <a:noFill/>
          <a:ln>
            <a:noFill/>
          </a:ln>
        </p:spPr>
        <p:txBody>
          <a:bodyPr anchorCtr="0" anchor="t" bIns="0" lIns="0" spcFirstLastPara="1" rIns="0" wrap="square" tIns="21225">
            <a:noAutofit/>
          </a:bodyPr>
          <a:lstStyle/>
          <a:p>
            <a:pPr indent="-336550" lvl="0" marL="34290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Corporations and governments are collecting data in real time. This data reflects changing status and the dynamics of  enterprise or government entity. Different data feeds require different processing algorithms and they, in turn, need to be adapted to the changing nature of data processing .</a:t>
            </a:r>
            <a:endParaRPr/>
          </a:p>
          <a:p>
            <a:pPr indent="-336550" lvl="0" marL="342900" marR="0" rtl="0" algn="l">
              <a:lnSpc>
                <a:spcPct val="93000"/>
              </a:lnSpc>
              <a:spcBef>
                <a:spcPts val="140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 Some surveys are suggesting that more than 90% of corporations put real-time predictive analytics at the top of their list of most wanted IT improvements. </a:t>
            </a:r>
            <a:endParaRPr/>
          </a:p>
          <a:p>
            <a:pPr indent="-336550" lvl="0" marL="342900" marR="0" rtl="0" algn="l">
              <a:lnSpc>
                <a:spcPct val="93000"/>
              </a:lnSpc>
              <a:spcBef>
                <a:spcPts val="140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Octopus CIP was created to address these and other problems of real-time data processing.</a:t>
            </a:r>
            <a:endParaRPr/>
          </a:p>
          <a:p>
            <a:pPr indent="0" lvl="0" marL="0" marR="0" rtl="0" algn="l">
              <a:lnSpc>
                <a:spcPct val="93000"/>
              </a:lnSpc>
              <a:spcBef>
                <a:spcPts val="1400"/>
              </a:spcBef>
              <a:spcAft>
                <a:spcPts val="0"/>
              </a:spcAft>
              <a:buNone/>
            </a:pPr>
            <a:r>
              <a:t/>
            </a:r>
            <a:endParaRPr b="0" i="0" sz="2000" u="none">
              <a:solidFill>
                <a:srgbClr val="000000"/>
              </a:solidFill>
              <a:latin typeface="Arial"/>
              <a:ea typeface="Arial"/>
              <a:cs typeface="Arial"/>
              <a:sym typeface="Arial"/>
            </a:endParaRPr>
          </a:p>
        </p:txBody>
      </p:sp>
      <p:sp>
        <p:nvSpPr>
          <p:cNvPr id="49" name="Google Shape;49;p3"/>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p4"/>
          <p:cNvSpPr txBox="1"/>
          <p:nvPr/>
        </p:nvSpPr>
        <p:spPr>
          <a:xfrm>
            <a:off x="503237" y="301625"/>
            <a:ext cx="9069387" cy="612775"/>
          </a:xfrm>
          <a:prstGeom prst="rect">
            <a:avLst/>
          </a:prstGeom>
          <a:noFill/>
          <a:ln>
            <a:noFill/>
          </a:ln>
        </p:spPr>
        <p:txBody>
          <a:bodyPr anchorCtr="0" anchor="ctr" bIns="0" lIns="0" spcFirstLastPara="1" rIns="0" wrap="square" tIns="0">
            <a:noAutofit/>
          </a:bodyPr>
          <a:lstStyle/>
          <a:p>
            <a:pPr indent="0" lvl="0" marL="0" marR="0" rtl="0" algn="ctr">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Fundamentals</a:t>
            </a:r>
            <a:endParaRPr/>
          </a:p>
        </p:txBody>
      </p:sp>
      <p:sp>
        <p:nvSpPr>
          <p:cNvPr id="56" name="Google Shape;56;p4"/>
          <p:cNvSpPr txBox="1"/>
          <p:nvPr/>
        </p:nvSpPr>
        <p:spPr>
          <a:xfrm>
            <a:off x="531812" y="1330325"/>
            <a:ext cx="9069387" cy="52990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All Octopus CIP applications are developed and deployed as a separate VM (virtual machine) on the Octopus Cloud. VM has a minimal configuration to only support the needs of a given application. As a consequence, the deployment of a new version of the  application is, in the essence, creation and deployment of the new VM. This approach allows us to implement the following principles:</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114300" lvl="0" marL="0" marR="0" rtl="0" algn="l">
              <a:lnSpc>
                <a:spcPct val="93000"/>
              </a:lnSpc>
              <a:spcBef>
                <a:spcPts val="0"/>
              </a:spcBef>
              <a:spcAft>
                <a:spcPts val="0"/>
              </a:spcAft>
              <a:buClr>
                <a:srgbClr val="000000"/>
              </a:buClr>
              <a:buSzPts val="1800"/>
              <a:buFont typeface="Times New Roman"/>
              <a:buChar char="•"/>
            </a:pPr>
            <a:r>
              <a:rPr b="0" i="0" lang="en-US" sz="1800" u="none">
                <a:solidFill>
                  <a:srgbClr val="000000"/>
                </a:solidFill>
                <a:latin typeface="Arial"/>
                <a:ea typeface="Arial"/>
                <a:cs typeface="Arial"/>
                <a:sym typeface="Arial"/>
              </a:rPr>
              <a:t> Applications and their VM images are not patchable, but rather disposable. All changes are implemented by replacing the image of an old application’s version with a new virtual machine that contains the new version of an application;</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114300" lvl="0" marL="0" marR="0" rtl="0" algn="l">
              <a:lnSpc>
                <a:spcPct val="93000"/>
              </a:lnSpc>
              <a:spcBef>
                <a:spcPts val="0"/>
              </a:spcBef>
              <a:spcAft>
                <a:spcPts val="0"/>
              </a:spcAft>
              <a:buClr>
                <a:srgbClr val="000000"/>
              </a:buClr>
              <a:buSzPts val="1800"/>
              <a:buFont typeface="Times New Roman"/>
              <a:buChar char="•"/>
            </a:pPr>
            <a:r>
              <a:rPr b="0" i="0" lang="en-US" sz="1800" u="none">
                <a:solidFill>
                  <a:srgbClr val="000000"/>
                </a:solidFill>
                <a:latin typeface="Arial"/>
                <a:ea typeface="Arial"/>
                <a:cs typeface="Arial"/>
                <a:sym typeface="Arial"/>
              </a:rPr>
              <a:t> Each application is executed on multiple devices simultaneously. This ensures that failure of one instance will not cause failure of the whole application; </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114300" lvl="0" marL="0" marR="0" rtl="0" algn="l">
              <a:lnSpc>
                <a:spcPct val="93000"/>
              </a:lnSpc>
              <a:spcBef>
                <a:spcPts val="0"/>
              </a:spcBef>
              <a:spcAft>
                <a:spcPts val="0"/>
              </a:spcAft>
              <a:buClr>
                <a:srgbClr val="000000"/>
              </a:buClr>
              <a:buSzPts val="1800"/>
              <a:buFont typeface="Times New Roman"/>
              <a:buChar char="•"/>
            </a:pPr>
            <a:r>
              <a:rPr b="0" i="0" lang="en-US" sz="1800" u="none">
                <a:solidFill>
                  <a:srgbClr val="000000"/>
                </a:solidFill>
                <a:latin typeface="Arial"/>
                <a:ea typeface="Arial"/>
                <a:cs typeface="Arial"/>
                <a:sym typeface="Arial"/>
              </a:rPr>
              <a:t> There are no direct tightly coupled connections between applications or even  components of the same application;</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114300" lvl="0" marL="0" marR="0" rtl="0" algn="l">
              <a:lnSpc>
                <a:spcPct val="93000"/>
              </a:lnSpc>
              <a:spcBef>
                <a:spcPts val="0"/>
              </a:spcBef>
              <a:spcAft>
                <a:spcPts val="0"/>
              </a:spcAft>
              <a:buClr>
                <a:srgbClr val="000000"/>
              </a:buClr>
              <a:buSzPts val="1800"/>
              <a:buFont typeface="Times New Roman"/>
              <a:buChar char="•"/>
            </a:pPr>
            <a:r>
              <a:rPr b="0" i="0" lang="en-US" sz="1800" u="none">
                <a:solidFill>
                  <a:srgbClr val="000000"/>
                </a:solidFill>
                <a:latin typeface="Arial"/>
                <a:ea typeface="Arial"/>
                <a:cs typeface="Arial"/>
                <a:sym typeface="Arial"/>
              </a:rPr>
              <a:t> Current application status, wherever is possible, persists on the separate physical device. This  allows lossless transition of the application from a broken device on the new one.</a:t>
            </a:r>
            <a:endParaRPr/>
          </a:p>
        </p:txBody>
      </p:sp>
      <p:sp>
        <p:nvSpPr>
          <p:cNvPr id="57" name="Google Shape;57;p4"/>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 name="Shape 62"/>
        <p:cNvGrpSpPr/>
        <p:nvPr/>
      </p:nvGrpSpPr>
      <p:grpSpPr>
        <a:xfrm>
          <a:off x="0" y="0"/>
          <a:ext cx="0" cy="0"/>
          <a:chOff x="0" y="0"/>
          <a:chExt cx="0" cy="0"/>
        </a:xfrm>
      </p:grpSpPr>
      <p:sp>
        <p:nvSpPr>
          <p:cNvPr id="63" name="Google Shape;63;p5"/>
          <p:cNvSpPr txBox="1"/>
          <p:nvPr/>
        </p:nvSpPr>
        <p:spPr>
          <a:xfrm>
            <a:off x="685800" y="301625"/>
            <a:ext cx="8994775" cy="8413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Processors and Models are </a:t>
            </a:r>
            <a:br>
              <a:rPr b="0" i="0" lang="en-US" sz="2800" u="none">
                <a:solidFill>
                  <a:srgbClr val="000000"/>
                </a:solidFill>
                <a:latin typeface="Arial"/>
                <a:ea typeface="Arial"/>
                <a:cs typeface="Arial"/>
                <a:sym typeface="Arial"/>
              </a:rPr>
            </a:br>
            <a:r>
              <a:rPr b="0" i="0" lang="en-US" sz="2800" u="none">
                <a:solidFill>
                  <a:srgbClr val="000000"/>
                </a:solidFill>
                <a:latin typeface="Arial"/>
                <a:ea typeface="Arial"/>
                <a:cs typeface="Arial"/>
                <a:sym typeface="Arial"/>
              </a:rPr>
              <a:t>building blocks of Octopus CIP’s data processing</a:t>
            </a:r>
            <a:endParaRPr/>
          </a:p>
        </p:txBody>
      </p:sp>
      <p:sp>
        <p:nvSpPr>
          <p:cNvPr id="64" name="Google Shape;64;p5"/>
          <p:cNvSpPr txBox="1"/>
          <p:nvPr/>
        </p:nvSpPr>
        <p:spPr>
          <a:xfrm>
            <a:off x="685800" y="1668462"/>
            <a:ext cx="8915400" cy="473233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applications process data in real-time as a stream, often before data gets to the Database. This approach is radically different from the traditional method, when data is processed  only after having been saved in the Database. This makes information system more agile and proactive in providing current information for decission making support in real time.</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 </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Data processing in Octopus CIP consists of executing one or several models. Each model is a composition of interconnected processing units, or processors. Octopus CIP provides a graphical interface, the Octopus Designer, to simplify building and executing models.  </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CIP supports parallel data processing, allowing concurrent execution of  multiple models. Octopus CIP’s built-in support for parallel processing is the  foundation of Octopus Map-reduce implementation.</a:t>
            </a:r>
            <a:endParaRPr/>
          </a:p>
        </p:txBody>
      </p:sp>
      <p:sp>
        <p:nvSpPr>
          <p:cNvPr id="65" name="Google Shape;65;p5"/>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6"/>
          <p:cNvSpPr txBox="1"/>
          <p:nvPr/>
        </p:nvSpPr>
        <p:spPr>
          <a:xfrm>
            <a:off x="939800" y="300037"/>
            <a:ext cx="3860800" cy="61436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Octopus designer</a:t>
            </a:r>
            <a:endParaRPr/>
          </a:p>
        </p:txBody>
      </p:sp>
      <p:sp>
        <p:nvSpPr>
          <p:cNvPr id="72" name="Google Shape;72;p6"/>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73" name="Google Shape;73;p6"/>
          <p:cNvPicPr preferRelativeResize="0"/>
          <p:nvPr/>
        </p:nvPicPr>
        <p:blipFill rotWithShape="1">
          <a:blip r:embed="rId3">
            <a:alphaModFix/>
          </a:blip>
          <a:srcRect b="0" l="0" r="0" t="0"/>
          <a:stretch/>
        </p:blipFill>
        <p:spPr>
          <a:xfrm>
            <a:off x="457200" y="914400"/>
            <a:ext cx="9144000" cy="5715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 name="Shape 78"/>
        <p:cNvGrpSpPr/>
        <p:nvPr/>
      </p:nvGrpSpPr>
      <p:grpSpPr>
        <a:xfrm>
          <a:off x="0" y="0"/>
          <a:ext cx="0" cy="0"/>
          <a:chOff x="0" y="0"/>
          <a:chExt cx="0" cy="0"/>
        </a:xfrm>
      </p:grpSpPr>
      <p:sp>
        <p:nvSpPr>
          <p:cNvPr id="79" name="Google Shape;79;p7"/>
          <p:cNvSpPr txBox="1"/>
          <p:nvPr/>
        </p:nvSpPr>
        <p:spPr>
          <a:xfrm>
            <a:off x="939800" y="300037"/>
            <a:ext cx="3403600" cy="38576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designer :  Canvas</a:t>
            </a:r>
            <a:endParaRPr/>
          </a:p>
        </p:txBody>
      </p:sp>
      <p:sp>
        <p:nvSpPr>
          <p:cNvPr id="80" name="Google Shape;80;p7"/>
          <p:cNvSpPr txBox="1"/>
          <p:nvPr/>
        </p:nvSpPr>
        <p:spPr>
          <a:xfrm>
            <a:off x="5943600" y="1155700"/>
            <a:ext cx="3886200" cy="38862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This window serves as a work bench for composing models from processors presented on the Palette. Items can be moved from palette to the canvas using mouse drag-and-drop method. Selected items can then be connected with each other. Output of one processor can be connected to the input of another, but only if they have compatible data types. </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Each model has two special processors: source and sink. First one provides input data for the model, the second one is used to output results.</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 Designer builds models using variety of available processors. Examples of common models are:  simple and weighted moving averages, correlation analysis, regression models, arithmetic and logical operations on  results.</a:t>
            </a:r>
            <a:endParaRPr/>
          </a:p>
        </p:txBody>
      </p:sp>
      <p:sp>
        <p:nvSpPr>
          <p:cNvPr id="81" name="Google Shape;81;p7"/>
          <p:cNvSpPr txBox="1"/>
          <p:nvPr/>
        </p:nvSpPr>
        <p:spPr>
          <a:xfrm>
            <a:off x="457200" y="5211762"/>
            <a:ext cx="9372600" cy="108108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Models can use data from both local and remote data sources. Data can be output to a file, a console or a table.</a:t>
            </a:r>
            <a:endParaRPr/>
          </a:p>
          <a:p>
            <a:pPr indent="0" lvl="0" marL="0" marR="0" rtl="0" algn="l">
              <a:lnSpc>
                <a:spcPct val="93000"/>
              </a:lnSpc>
              <a:spcBef>
                <a:spcPts val="0"/>
              </a:spcBef>
              <a:spcAft>
                <a:spcPts val="0"/>
              </a:spcAft>
              <a:buClr>
                <a:srgbClr val="FFFFFF"/>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In the example above,  model presented on the canvas,  takes data from a Google Spreadsheet and outputs calculated results back to another Google Spreadsheet.</a:t>
            </a:r>
            <a:endParaRPr/>
          </a:p>
        </p:txBody>
      </p:sp>
      <p:sp>
        <p:nvSpPr>
          <p:cNvPr id="82" name="Google Shape;82;p7"/>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83" name="Google Shape;83;p7"/>
          <p:cNvPicPr preferRelativeResize="0"/>
          <p:nvPr/>
        </p:nvPicPr>
        <p:blipFill rotWithShape="1">
          <a:blip r:embed="rId3">
            <a:alphaModFix/>
          </a:blip>
          <a:srcRect b="31420" l="31472" r="0" t="6494"/>
          <a:stretch/>
        </p:blipFill>
        <p:spPr>
          <a:xfrm>
            <a:off x="685800" y="1274762"/>
            <a:ext cx="5029200" cy="3429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8"/>
          <p:cNvSpPr txBox="1"/>
          <p:nvPr/>
        </p:nvSpPr>
        <p:spPr>
          <a:xfrm>
            <a:off x="939800" y="300037"/>
            <a:ext cx="5689600" cy="38576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designer :  Palette and Property windows</a:t>
            </a:r>
            <a:endParaRPr/>
          </a:p>
        </p:txBody>
      </p:sp>
      <p:sp>
        <p:nvSpPr>
          <p:cNvPr id="90" name="Google Shape;90;p8"/>
          <p:cNvSpPr txBox="1"/>
          <p:nvPr/>
        </p:nvSpPr>
        <p:spPr>
          <a:xfrm>
            <a:off x="3886200" y="914400"/>
            <a:ext cx="5715000" cy="136525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Palette holds all of the available for a given user processors. Set of available processors reflects user preferences and access limits, exposed by his/her role. There are three groups of processors: Sources, regular Processors and Sinks.</a:t>
            </a:r>
            <a:endParaRPr/>
          </a:p>
        </p:txBody>
      </p:sp>
      <p:sp>
        <p:nvSpPr>
          <p:cNvPr id="91" name="Google Shape;91;p8"/>
          <p:cNvSpPr txBox="1"/>
          <p:nvPr/>
        </p:nvSpPr>
        <p:spPr>
          <a:xfrm>
            <a:off x="3886200" y="3219450"/>
            <a:ext cx="5715000" cy="23844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Property window provides detailed information about a selected processor. Properties can have default values. By changing property values, user can change processor’s behavior and the results of calculation. </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User can use Source and Sink processor properties to change data’s source and output destination. This allows us to run the same model against different data sources and redirect results to different destination points.</a:t>
            </a:r>
            <a:endParaRPr/>
          </a:p>
        </p:txBody>
      </p:sp>
      <p:sp>
        <p:nvSpPr>
          <p:cNvPr id="92" name="Google Shape;92;p8"/>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93" name="Google Shape;93;p8"/>
          <p:cNvPicPr preferRelativeResize="0"/>
          <p:nvPr/>
        </p:nvPicPr>
        <p:blipFill rotWithShape="1">
          <a:blip r:embed="rId3">
            <a:alphaModFix/>
          </a:blip>
          <a:srcRect b="6137" l="0" r="68519" t="54776"/>
          <a:stretch/>
        </p:blipFill>
        <p:spPr>
          <a:xfrm>
            <a:off x="531812" y="766762"/>
            <a:ext cx="3173412" cy="2590800"/>
          </a:xfrm>
          <a:prstGeom prst="rect">
            <a:avLst/>
          </a:prstGeom>
          <a:noFill/>
          <a:ln>
            <a:noFill/>
          </a:ln>
        </p:spPr>
      </p:pic>
      <p:pic>
        <p:nvPicPr>
          <p:cNvPr id="94" name="Google Shape;94;p8"/>
          <p:cNvPicPr preferRelativeResize="0"/>
          <p:nvPr/>
        </p:nvPicPr>
        <p:blipFill rotWithShape="1">
          <a:blip r:embed="rId3">
            <a:alphaModFix/>
          </a:blip>
          <a:srcRect b="41764" l="0" r="68519" t="9942"/>
          <a:stretch/>
        </p:blipFill>
        <p:spPr>
          <a:xfrm>
            <a:off x="531812" y="3267075"/>
            <a:ext cx="3173412" cy="3200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pic>
        <p:nvPicPr>
          <p:cNvPr id="100" name="Google Shape;100;p9"/>
          <p:cNvPicPr preferRelativeResize="0"/>
          <p:nvPr/>
        </p:nvPicPr>
        <p:blipFill rotWithShape="1">
          <a:blip r:embed="rId3">
            <a:alphaModFix/>
          </a:blip>
          <a:srcRect b="86610" l="0" r="68519" t="-386"/>
          <a:stretch/>
        </p:blipFill>
        <p:spPr>
          <a:xfrm>
            <a:off x="963612" y="1033462"/>
            <a:ext cx="3173412" cy="914400"/>
          </a:xfrm>
          <a:prstGeom prst="rect">
            <a:avLst/>
          </a:prstGeom>
          <a:noFill/>
          <a:ln>
            <a:noFill/>
          </a:ln>
        </p:spPr>
      </p:pic>
      <p:sp>
        <p:nvSpPr>
          <p:cNvPr id="101" name="Google Shape;101;p9"/>
          <p:cNvSpPr txBox="1"/>
          <p:nvPr/>
        </p:nvSpPr>
        <p:spPr>
          <a:xfrm>
            <a:off x="939800" y="301625"/>
            <a:ext cx="5689600" cy="38576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designer :  Tool bar and Output windows</a:t>
            </a:r>
            <a:endParaRPr/>
          </a:p>
        </p:txBody>
      </p:sp>
      <p:sp>
        <p:nvSpPr>
          <p:cNvPr id="102" name="Google Shape;102;p9"/>
          <p:cNvSpPr/>
          <p:nvPr/>
        </p:nvSpPr>
        <p:spPr>
          <a:xfrm>
            <a:off x="842962" y="2743200"/>
            <a:ext cx="1371600" cy="457200"/>
          </a:xfrm>
          <a:prstGeom prst="roundRect">
            <a:avLst>
              <a:gd fmla="val 75" name="adj"/>
            </a:avLst>
          </a:prstGeom>
          <a:solidFill>
            <a:srgbClr val="FFCC99"/>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New Model</a:t>
            </a:r>
            <a:endParaRPr/>
          </a:p>
        </p:txBody>
      </p:sp>
      <p:sp>
        <p:nvSpPr>
          <p:cNvPr id="103" name="Google Shape;103;p9"/>
          <p:cNvSpPr/>
          <p:nvPr/>
        </p:nvSpPr>
        <p:spPr>
          <a:xfrm>
            <a:off x="2282825" y="2743200"/>
            <a:ext cx="1371600" cy="457200"/>
          </a:xfrm>
          <a:prstGeom prst="roundRect">
            <a:avLst>
              <a:gd fmla="val 75" name="adj"/>
            </a:avLst>
          </a:prstGeom>
          <a:solidFill>
            <a:srgbClr val="FFCC99"/>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Open Model</a:t>
            </a:r>
            <a:endParaRPr/>
          </a:p>
        </p:txBody>
      </p:sp>
      <p:sp>
        <p:nvSpPr>
          <p:cNvPr id="104" name="Google Shape;104;p9"/>
          <p:cNvSpPr/>
          <p:nvPr/>
        </p:nvSpPr>
        <p:spPr>
          <a:xfrm>
            <a:off x="3757612" y="2743200"/>
            <a:ext cx="1371600" cy="457200"/>
          </a:xfrm>
          <a:prstGeom prst="roundRect">
            <a:avLst>
              <a:gd fmla="val 75" name="adj"/>
            </a:avLst>
          </a:prstGeom>
          <a:solidFill>
            <a:srgbClr val="FFCC99"/>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Save Model</a:t>
            </a:r>
            <a:endParaRPr/>
          </a:p>
        </p:txBody>
      </p:sp>
      <p:sp>
        <p:nvSpPr>
          <p:cNvPr id="105" name="Google Shape;105;p9"/>
          <p:cNvSpPr/>
          <p:nvPr/>
        </p:nvSpPr>
        <p:spPr>
          <a:xfrm>
            <a:off x="5270500" y="2743200"/>
            <a:ext cx="1816100" cy="457200"/>
          </a:xfrm>
          <a:prstGeom prst="roundRect">
            <a:avLst>
              <a:gd fmla="val 75" name="adj"/>
            </a:avLst>
          </a:prstGeom>
          <a:solidFill>
            <a:srgbClr val="FFCC99"/>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Compile Model</a:t>
            </a:r>
            <a:endParaRPr/>
          </a:p>
        </p:txBody>
      </p:sp>
      <p:sp>
        <p:nvSpPr>
          <p:cNvPr id="106" name="Google Shape;106;p9"/>
          <p:cNvSpPr/>
          <p:nvPr/>
        </p:nvSpPr>
        <p:spPr>
          <a:xfrm>
            <a:off x="7315200" y="2743200"/>
            <a:ext cx="1371600" cy="457200"/>
          </a:xfrm>
          <a:prstGeom prst="roundRect">
            <a:avLst>
              <a:gd fmla="val 75" name="adj"/>
            </a:avLst>
          </a:prstGeom>
          <a:solidFill>
            <a:srgbClr val="FFCC99"/>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Run Model</a:t>
            </a:r>
            <a:endParaRPr/>
          </a:p>
        </p:txBody>
      </p:sp>
      <p:cxnSp>
        <p:nvCxnSpPr>
          <p:cNvPr id="107" name="Google Shape;107;p9"/>
          <p:cNvCxnSpPr/>
          <p:nvPr/>
        </p:nvCxnSpPr>
        <p:spPr>
          <a:xfrm>
            <a:off x="1143000" y="1600200"/>
            <a:ext cx="228600" cy="1143000"/>
          </a:xfrm>
          <a:prstGeom prst="straightConnector1">
            <a:avLst/>
          </a:prstGeom>
          <a:noFill/>
          <a:ln cap="sq" cmpd="sng" w="9525">
            <a:solidFill>
              <a:srgbClr val="000000"/>
            </a:solidFill>
            <a:prstDash val="solid"/>
            <a:miter lim="800000"/>
            <a:headEnd len="med" w="med" type="none"/>
            <a:tailEnd len="med" w="med" type="triangle"/>
          </a:ln>
        </p:spPr>
      </p:cxnSp>
      <p:cxnSp>
        <p:nvCxnSpPr>
          <p:cNvPr id="108" name="Google Shape;108;p9"/>
          <p:cNvCxnSpPr/>
          <p:nvPr/>
        </p:nvCxnSpPr>
        <p:spPr>
          <a:xfrm>
            <a:off x="1371600" y="1600200"/>
            <a:ext cx="1371600" cy="1143000"/>
          </a:xfrm>
          <a:prstGeom prst="straightConnector1">
            <a:avLst/>
          </a:prstGeom>
          <a:noFill/>
          <a:ln cap="sq" cmpd="sng" w="9525">
            <a:solidFill>
              <a:srgbClr val="000000"/>
            </a:solidFill>
            <a:prstDash val="solid"/>
            <a:miter lim="800000"/>
            <a:headEnd len="med" w="med" type="none"/>
            <a:tailEnd len="med" w="med" type="triangle"/>
          </a:ln>
        </p:spPr>
      </p:cxnSp>
      <p:cxnSp>
        <p:nvCxnSpPr>
          <p:cNvPr id="109" name="Google Shape;109;p9"/>
          <p:cNvCxnSpPr/>
          <p:nvPr/>
        </p:nvCxnSpPr>
        <p:spPr>
          <a:xfrm>
            <a:off x="1600200" y="1600200"/>
            <a:ext cx="2743200" cy="1143000"/>
          </a:xfrm>
          <a:prstGeom prst="straightConnector1">
            <a:avLst/>
          </a:prstGeom>
          <a:noFill/>
          <a:ln cap="sq" cmpd="sng" w="9525">
            <a:solidFill>
              <a:srgbClr val="000000"/>
            </a:solidFill>
            <a:prstDash val="solid"/>
            <a:miter lim="800000"/>
            <a:headEnd len="med" w="med" type="none"/>
            <a:tailEnd len="med" w="med" type="triangle"/>
          </a:ln>
        </p:spPr>
      </p:cxnSp>
      <p:cxnSp>
        <p:nvCxnSpPr>
          <p:cNvPr id="110" name="Google Shape;110;p9"/>
          <p:cNvCxnSpPr/>
          <p:nvPr/>
        </p:nvCxnSpPr>
        <p:spPr>
          <a:xfrm>
            <a:off x="1828800" y="1600200"/>
            <a:ext cx="4114800" cy="1143000"/>
          </a:xfrm>
          <a:prstGeom prst="straightConnector1">
            <a:avLst/>
          </a:prstGeom>
          <a:noFill/>
          <a:ln cap="sq" cmpd="sng" w="9525">
            <a:solidFill>
              <a:srgbClr val="000000"/>
            </a:solidFill>
            <a:prstDash val="solid"/>
            <a:miter lim="800000"/>
            <a:headEnd len="med" w="med" type="none"/>
            <a:tailEnd len="med" w="med" type="triangle"/>
          </a:ln>
        </p:spPr>
      </p:cxnSp>
      <p:cxnSp>
        <p:nvCxnSpPr>
          <p:cNvPr id="111" name="Google Shape;111;p9"/>
          <p:cNvCxnSpPr/>
          <p:nvPr/>
        </p:nvCxnSpPr>
        <p:spPr>
          <a:xfrm>
            <a:off x="2057400" y="1600200"/>
            <a:ext cx="5486400" cy="1143000"/>
          </a:xfrm>
          <a:prstGeom prst="straightConnector1">
            <a:avLst/>
          </a:prstGeom>
          <a:noFill/>
          <a:ln cap="sq" cmpd="sng" w="9525">
            <a:solidFill>
              <a:srgbClr val="000000"/>
            </a:solidFill>
            <a:prstDash val="solid"/>
            <a:miter lim="800000"/>
            <a:headEnd len="med" w="med" type="none"/>
            <a:tailEnd len="med" w="med" type="triangle"/>
          </a:ln>
        </p:spPr>
      </p:cxnSp>
      <p:sp>
        <p:nvSpPr>
          <p:cNvPr id="112" name="Google Shape;112;p9"/>
          <p:cNvSpPr txBox="1"/>
          <p:nvPr/>
        </p:nvSpPr>
        <p:spPr>
          <a:xfrm>
            <a:off x="4530725" y="1073150"/>
            <a:ext cx="5046662" cy="88265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Toolbar and menues provide access to Octopus Designer ‘s controls. These controls allow  building of a new Model or Open and an existing one, Save new model or the changes in existing one, Compile and Run model.</a:t>
            </a:r>
            <a:endParaRPr/>
          </a:p>
        </p:txBody>
      </p:sp>
      <p:sp>
        <p:nvSpPr>
          <p:cNvPr id="113" name="Google Shape;113;p9"/>
          <p:cNvSpPr txBox="1"/>
          <p:nvPr/>
        </p:nvSpPr>
        <p:spPr>
          <a:xfrm>
            <a:off x="4572000" y="4114800"/>
            <a:ext cx="5029200" cy="157003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Output window is a place where Octopus Designer displays calculated results and info and error messages generated by processors during Model execution.</a:t>
            </a:r>
            <a:endParaRPr/>
          </a:p>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In this example, the list of US Futures data and Simple Moving Average is presented as the result of the Model run.</a:t>
            </a:r>
            <a:r>
              <a:rPr b="0" i="0" lang="en-US" sz="1600" u="none">
                <a:solidFill>
                  <a:srgbClr val="000000"/>
                </a:solidFill>
                <a:latin typeface="Times New Roman"/>
                <a:ea typeface="Times New Roman"/>
                <a:cs typeface="Times New Roman"/>
                <a:sym typeface="Times New Roman"/>
              </a:rPr>
              <a:t> </a:t>
            </a:r>
            <a:endParaRPr/>
          </a:p>
        </p:txBody>
      </p:sp>
      <p:sp>
        <p:nvSpPr>
          <p:cNvPr id="114" name="Google Shape;114;p9"/>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115" name="Google Shape;115;p9"/>
          <p:cNvPicPr preferRelativeResize="0"/>
          <p:nvPr/>
        </p:nvPicPr>
        <p:blipFill rotWithShape="1">
          <a:blip r:embed="rId3">
            <a:alphaModFix/>
          </a:blip>
          <a:srcRect b="0" l="31472" r="27699" t="65122"/>
          <a:stretch/>
        </p:blipFill>
        <p:spPr>
          <a:xfrm>
            <a:off x="428625" y="3829050"/>
            <a:ext cx="4114800" cy="2311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10"/>
          <p:cNvSpPr txBox="1"/>
          <p:nvPr/>
        </p:nvSpPr>
        <p:spPr>
          <a:xfrm>
            <a:off x="939800" y="301625"/>
            <a:ext cx="3743325" cy="34448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designer :  Object Database</a:t>
            </a:r>
            <a:endParaRPr/>
          </a:p>
        </p:txBody>
      </p:sp>
      <p:sp>
        <p:nvSpPr>
          <p:cNvPr id="122" name="Google Shape;122;p10"/>
          <p:cNvSpPr txBox="1"/>
          <p:nvPr/>
        </p:nvSpPr>
        <p:spPr>
          <a:xfrm>
            <a:off x="914400" y="914400"/>
            <a:ext cx="8686800" cy="175895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All Octopus models are persisted in Object Database - db4o. Object Database is implemented as a separate Virtual Machine. Models in the database are available to all authorized users with access to the database. </a:t>
            </a:r>
            <a:endParaRPr/>
          </a:p>
          <a:p>
            <a:pPr indent="0" lvl="0" marL="0" marR="0" rtl="0" algn="l">
              <a:lnSpc>
                <a:spcPct val="93000"/>
              </a:lnSpc>
              <a:spcBef>
                <a:spcPts val="0"/>
              </a:spcBef>
              <a:spcAft>
                <a:spcPts val="0"/>
              </a:spcAft>
              <a:buClr>
                <a:srgbClr val="FFFFFF"/>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Use of the models:</a:t>
            </a:r>
            <a:endParaRPr/>
          </a:p>
          <a:p>
            <a:pPr indent="-276225" lvl="1" marL="733425" marR="0" rtl="0" algn="l">
              <a:lnSpc>
                <a:spcPct val="93000"/>
              </a:lnSpc>
              <a:spcBef>
                <a:spcPts val="0"/>
              </a:spcBef>
              <a:spcAft>
                <a:spcPts val="0"/>
              </a:spcAft>
              <a:buClr>
                <a:srgbClr val="000000"/>
              </a:buClr>
              <a:buSzPts val="1200"/>
              <a:buFont typeface="Times New Roman"/>
              <a:buChar char="–"/>
            </a:pPr>
            <a:r>
              <a:rPr b="0" i="0" lang="en-US" sz="1200" u="none" cap="none" strike="noStrike">
                <a:solidFill>
                  <a:srgbClr val="000000"/>
                </a:solidFill>
                <a:latin typeface="Arial"/>
                <a:ea typeface="Arial"/>
                <a:cs typeface="Arial"/>
                <a:sym typeface="Arial"/>
              </a:rPr>
              <a:t>Run models from Octopus Designer – this mode can be used during model’s development and testing. It can also  be used to perform complex analytical work that requires multiple runs of the same model with different parameter setup ;</a:t>
            </a:r>
            <a:endParaRPr/>
          </a:p>
          <a:p>
            <a:pPr indent="-276225" lvl="1" marL="733425" marR="0" rtl="0" algn="l">
              <a:lnSpc>
                <a:spcPct val="93000"/>
              </a:lnSpc>
              <a:spcBef>
                <a:spcPts val="0"/>
              </a:spcBef>
              <a:spcAft>
                <a:spcPts val="0"/>
              </a:spcAft>
              <a:buClr>
                <a:srgbClr val="000000"/>
              </a:buClr>
              <a:buSzPts val="1200"/>
              <a:buFont typeface="Times New Roman"/>
              <a:buChar char="–"/>
            </a:pPr>
            <a:r>
              <a:rPr b="0" i="0" lang="en-US" sz="1200" u="none" cap="none" strike="noStrike">
                <a:solidFill>
                  <a:srgbClr val="000000"/>
                </a:solidFill>
                <a:latin typeface="Arial"/>
                <a:ea typeface="Arial"/>
                <a:cs typeface="Arial"/>
                <a:sym typeface="Arial"/>
              </a:rPr>
              <a:t>Run model on Octopus Server – this is the main execution mode;</a:t>
            </a:r>
            <a:endParaRPr/>
          </a:p>
          <a:p>
            <a:pPr indent="-276225" lvl="1" marL="733425" marR="0" rtl="0" algn="l">
              <a:lnSpc>
                <a:spcPct val="93000"/>
              </a:lnSpc>
              <a:spcBef>
                <a:spcPts val="0"/>
              </a:spcBef>
              <a:spcAft>
                <a:spcPts val="0"/>
              </a:spcAft>
              <a:buClr>
                <a:srgbClr val="000000"/>
              </a:buClr>
              <a:buSzPts val="1200"/>
              <a:buFont typeface="Times New Roman"/>
              <a:buChar char="–"/>
            </a:pPr>
            <a:r>
              <a:rPr b="0" i="0" lang="en-US" sz="1200" u="none" cap="none" strike="noStrike">
                <a:solidFill>
                  <a:srgbClr val="000000"/>
                </a:solidFill>
                <a:latin typeface="Arial"/>
                <a:ea typeface="Arial"/>
                <a:cs typeface="Arial"/>
                <a:sym typeface="Arial"/>
              </a:rPr>
              <a:t>Run model as a part of custom application or web service (web or desktop).</a:t>
            </a:r>
            <a:endParaRPr/>
          </a:p>
        </p:txBody>
      </p:sp>
      <p:sp>
        <p:nvSpPr>
          <p:cNvPr id="123" name="Google Shape;123;p10"/>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124" name="Google Shape;124;p10"/>
          <p:cNvPicPr preferRelativeResize="0"/>
          <p:nvPr/>
        </p:nvPicPr>
        <p:blipFill rotWithShape="1">
          <a:blip r:embed="rId3">
            <a:alphaModFix/>
          </a:blip>
          <a:srcRect b="0" l="0" r="0" t="0"/>
          <a:stretch/>
        </p:blipFill>
        <p:spPr>
          <a:xfrm>
            <a:off x="2057400" y="3032125"/>
            <a:ext cx="5943600" cy="3657600"/>
          </a:xfrm>
          <a:prstGeom prst="rect">
            <a:avLst/>
          </a:prstGeom>
          <a:noFill/>
          <a:ln>
            <a:noFill/>
          </a:ln>
        </p:spPr>
      </p:pic>
      <p:pic>
        <p:nvPicPr>
          <p:cNvPr id="125" name="Google Shape;125;p10"/>
          <p:cNvPicPr preferRelativeResize="0"/>
          <p:nvPr/>
        </p:nvPicPr>
        <p:blipFill rotWithShape="1">
          <a:blip r:embed="rId4">
            <a:alphaModFix/>
          </a:blip>
          <a:srcRect b="0" l="0" r="0" t="0"/>
          <a:stretch/>
        </p:blipFill>
        <p:spPr>
          <a:xfrm>
            <a:off x="4133850" y="4451350"/>
            <a:ext cx="2495550" cy="2165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11"/>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Octopus CIP Architecture</a:t>
            </a:r>
            <a:endParaRPr/>
          </a:p>
        </p:txBody>
      </p:sp>
      <p:sp>
        <p:nvSpPr>
          <p:cNvPr id="132" name="Google Shape;132;p11"/>
          <p:cNvSpPr/>
          <p:nvPr/>
        </p:nvSpPr>
        <p:spPr>
          <a:xfrm>
            <a:off x="457200" y="1143000"/>
            <a:ext cx="9144000" cy="3429000"/>
          </a:xfrm>
          <a:prstGeom prst="roundRect">
            <a:avLst>
              <a:gd fmla="val 10" name="adj"/>
            </a:avLst>
          </a:prstGeom>
          <a:no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33" name="Google Shape;133;p11"/>
          <p:cNvSpPr txBox="1"/>
          <p:nvPr/>
        </p:nvSpPr>
        <p:spPr>
          <a:xfrm>
            <a:off x="588962" y="1263650"/>
            <a:ext cx="1689100" cy="34448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Cloud</a:t>
            </a:r>
            <a:endParaRPr/>
          </a:p>
        </p:txBody>
      </p:sp>
      <p:sp>
        <p:nvSpPr>
          <p:cNvPr id="134" name="Google Shape;134;p11"/>
          <p:cNvSpPr/>
          <p:nvPr/>
        </p:nvSpPr>
        <p:spPr>
          <a:xfrm>
            <a:off x="728662" y="2971800"/>
            <a:ext cx="2286000" cy="1371600"/>
          </a:xfrm>
          <a:prstGeom prst="roundRect">
            <a:avLst>
              <a:gd fmla="val 25" name="adj"/>
            </a:avLst>
          </a:prstGeom>
          <a:solidFill>
            <a:srgbClr val="9999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 Server (VM):</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 Scheduler (*1);</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 Model Runner (*2);</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 START(*3);</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 Portal</a:t>
            </a:r>
            <a:endParaRPr/>
          </a:p>
        </p:txBody>
      </p:sp>
      <p:sp>
        <p:nvSpPr>
          <p:cNvPr id="135" name="Google Shape;135;p11"/>
          <p:cNvSpPr/>
          <p:nvPr/>
        </p:nvSpPr>
        <p:spPr>
          <a:xfrm>
            <a:off x="722312" y="1708150"/>
            <a:ext cx="1600200" cy="1143000"/>
          </a:xfrm>
          <a:prstGeom prst="roundRect">
            <a:avLst>
              <a:gd fmla="val 30" name="adj"/>
            </a:avLst>
          </a:prstGeom>
          <a:solidFill>
            <a:srgbClr val="9999FF"/>
          </a:solidFill>
          <a:ln cap="sq" cmpd="sng" w="9525">
            <a:solidFill>
              <a:srgbClr val="000000"/>
            </a:solidFill>
            <a:prstDash val="solid"/>
            <a:miter lim="800000"/>
            <a:headEnd len="sm" w="sm" type="none"/>
            <a:tailEnd len="sm" w="sm" type="none"/>
          </a:ln>
        </p:spPr>
        <p:txBody>
          <a:bodyPr anchorCtr="1" anchor="ctr" bIns="0" lIns="0" spcFirstLastPara="1" rIns="0" wrap="square" tIns="0">
            <a:noAutofit/>
          </a:bodyPr>
          <a:lstStyle/>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 </a:t>
            </a:r>
            <a:endParaRPr/>
          </a:p>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Web DAV</a:t>
            </a:r>
            <a:endParaRPr/>
          </a:p>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 Server</a:t>
            </a:r>
            <a:endParaRPr/>
          </a:p>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Virtual Machine</a:t>
            </a:r>
            <a:endParaRPr/>
          </a:p>
        </p:txBody>
      </p:sp>
      <p:sp>
        <p:nvSpPr>
          <p:cNvPr id="136" name="Google Shape;136;p11"/>
          <p:cNvSpPr/>
          <p:nvPr/>
        </p:nvSpPr>
        <p:spPr>
          <a:xfrm>
            <a:off x="5410200" y="1371600"/>
            <a:ext cx="914400" cy="685800"/>
          </a:xfrm>
          <a:prstGeom prst="can">
            <a:avLst>
              <a:gd fmla="val 5400" name="adj"/>
            </a:avLst>
          </a:prstGeom>
          <a:solidFill>
            <a:srgbClr val="99CCFF"/>
          </a:solidFill>
          <a:ln cap="sq" cmpd="sng" w="9525">
            <a:solidFill>
              <a:srgbClr val="000000"/>
            </a:solidFill>
            <a:prstDash val="solid"/>
            <a:miter lim="800000"/>
            <a:headEnd len="sm" w="sm" type="none"/>
            <a:tailEnd len="sm" w="sm" type="none"/>
          </a:ln>
        </p:spPr>
        <p:txBody>
          <a:bodyPr anchorCtr="0" anchor="ctr"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MySQL</a:t>
            </a:r>
            <a:endParaRPr/>
          </a:p>
        </p:txBody>
      </p:sp>
      <p:sp>
        <p:nvSpPr>
          <p:cNvPr id="137" name="Google Shape;137;p11"/>
          <p:cNvSpPr/>
          <p:nvPr/>
        </p:nvSpPr>
        <p:spPr>
          <a:xfrm>
            <a:off x="8183562" y="1371600"/>
            <a:ext cx="849312" cy="685800"/>
          </a:xfrm>
          <a:prstGeom prst="can">
            <a:avLst>
              <a:gd fmla="val 5400" name="adj"/>
            </a:avLst>
          </a:prstGeom>
          <a:solidFill>
            <a:srgbClr val="99CCFF"/>
          </a:solidFill>
          <a:ln cap="sq" cmpd="sng" w="9525">
            <a:solidFill>
              <a:srgbClr val="000000"/>
            </a:solidFill>
            <a:prstDash val="solid"/>
            <a:miter lim="800000"/>
            <a:headEnd len="sm" w="sm" type="none"/>
            <a:tailEnd len="sm" w="sm" type="none"/>
          </a:ln>
        </p:spPr>
        <p:txBody>
          <a:bodyPr anchorCtr="0" anchor="ctr"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db4o</a:t>
            </a:r>
            <a:endParaRPr/>
          </a:p>
        </p:txBody>
      </p:sp>
      <p:sp>
        <p:nvSpPr>
          <p:cNvPr id="138" name="Google Shape;138;p11"/>
          <p:cNvSpPr/>
          <p:nvPr/>
        </p:nvSpPr>
        <p:spPr>
          <a:xfrm>
            <a:off x="2674937" y="1371600"/>
            <a:ext cx="914400" cy="685800"/>
          </a:xfrm>
          <a:prstGeom prst="can">
            <a:avLst>
              <a:gd fmla="val 5400" name="adj"/>
            </a:avLst>
          </a:prstGeom>
          <a:solidFill>
            <a:srgbClr val="99CCFF"/>
          </a:solidFill>
          <a:ln cap="sq" cmpd="sng" w="9525">
            <a:solidFill>
              <a:srgbClr val="000000"/>
            </a:solidFill>
            <a:prstDash val="solid"/>
            <a:miter lim="800000"/>
            <a:headEnd len="sm" w="sm" type="none"/>
            <a:tailEnd len="sm" w="sm" type="none"/>
          </a:ln>
        </p:spPr>
        <p:txBody>
          <a:bodyPr anchorCtr="0" anchor="ctr"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Berkeley</a:t>
            </a:r>
            <a:endParaRPr/>
          </a:p>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XML DB</a:t>
            </a:r>
            <a:endParaRPr/>
          </a:p>
        </p:txBody>
      </p:sp>
      <p:sp>
        <p:nvSpPr>
          <p:cNvPr id="139" name="Google Shape;139;p11"/>
          <p:cNvSpPr/>
          <p:nvPr/>
        </p:nvSpPr>
        <p:spPr>
          <a:xfrm>
            <a:off x="4043362" y="1371600"/>
            <a:ext cx="914400" cy="685800"/>
          </a:xfrm>
          <a:prstGeom prst="can">
            <a:avLst>
              <a:gd fmla="val 5400" name="adj"/>
            </a:avLst>
          </a:prstGeom>
          <a:solidFill>
            <a:srgbClr val="99CCFF"/>
          </a:solidFill>
          <a:ln cap="sq" cmpd="sng" w="9525">
            <a:solidFill>
              <a:srgbClr val="000000"/>
            </a:solidFill>
            <a:prstDash val="solid"/>
            <a:miter lim="800000"/>
            <a:headEnd len="sm" w="sm" type="none"/>
            <a:tailEnd len="sm" w="sm" type="none"/>
          </a:ln>
        </p:spPr>
        <p:txBody>
          <a:bodyPr anchorCtr="0" anchor="ctr"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Mongo</a:t>
            </a:r>
            <a:endParaRPr/>
          </a:p>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DB</a:t>
            </a:r>
            <a:endParaRPr/>
          </a:p>
        </p:txBody>
      </p:sp>
      <p:sp>
        <p:nvSpPr>
          <p:cNvPr id="140" name="Google Shape;140;p11"/>
          <p:cNvSpPr/>
          <p:nvPr/>
        </p:nvSpPr>
        <p:spPr>
          <a:xfrm>
            <a:off x="6815137" y="1371600"/>
            <a:ext cx="849312" cy="685800"/>
          </a:xfrm>
          <a:prstGeom prst="can">
            <a:avLst>
              <a:gd fmla="val 5400" name="adj"/>
            </a:avLst>
          </a:prstGeom>
          <a:solidFill>
            <a:srgbClr val="99CCFF"/>
          </a:solidFill>
          <a:ln cap="sq" cmpd="sng" w="9525">
            <a:solidFill>
              <a:srgbClr val="000000"/>
            </a:solidFill>
            <a:prstDash val="solid"/>
            <a:miter lim="800000"/>
            <a:headEnd len="sm" w="sm" type="none"/>
            <a:tailEnd len="sm" w="sm" type="none"/>
          </a:ln>
        </p:spPr>
        <p:txBody>
          <a:bodyPr anchorCtr="0" anchor="ctr"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Redis </a:t>
            </a:r>
            <a:endParaRPr/>
          </a:p>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DB</a:t>
            </a:r>
            <a:endParaRPr/>
          </a:p>
        </p:txBody>
      </p:sp>
      <p:sp>
        <p:nvSpPr>
          <p:cNvPr id="141" name="Google Shape;141;p11"/>
          <p:cNvSpPr/>
          <p:nvPr/>
        </p:nvSpPr>
        <p:spPr>
          <a:xfrm>
            <a:off x="2443162" y="1263650"/>
            <a:ext cx="1371600" cy="1600200"/>
          </a:xfrm>
          <a:prstGeom prst="roundRect">
            <a:avLst>
              <a:gd fmla="val 25" name="adj"/>
            </a:avLst>
          </a:prstGeom>
          <a:no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42" name="Google Shape;142;p11"/>
          <p:cNvSpPr/>
          <p:nvPr/>
        </p:nvSpPr>
        <p:spPr>
          <a:xfrm>
            <a:off x="3810000" y="1263650"/>
            <a:ext cx="1371600" cy="1600200"/>
          </a:xfrm>
          <a:prstGeom prst="roundRect">
            <a:avLst>
              <a:gd fmla="val 25" name="adj"/>
            </a:avLst>
          </a:prstGeom>
          <a:no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43" name="Google Shape;143;p11"/>
          <p:cNvSpPr/>
          <p:nvPr/>
        </p:nvSpPr>
        <p:spPr>
          <a:xfrm>
            <a:off x="5178425" y="1263650"/>
            <a:ext cx="1371600" cy="1600200"/>
          </a:xfrm>
          <a:prstGeom prst="roundRect">
            <a:avLst>
              <a:gd fmla="val 25" name="adj"/>
            </a:avLst>
          </a:prstGeom>
          <a:no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44" name="Google Shape;144;p11"/>
          <p:cNvSpPr/>
          <p:nvPr/>
        </p:nvSpPr>
        <p:spPr>
          <a:xfrm>
            <a:off x="6546850" y="1263650"/>
            <a:ext cx="1371600" cy="1600200"/>
          </a:xfrm>
          <a:prstGeom prst="roundRect">
            <a:avLst>
              <a:gd fmla="val 25" name="adj"/>
            </a:avLst>
          </a:prstGeom>
          <a:no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45" name="Google Shape;145;p11"/>
          <p:cNvSpPr/>
          <p:nvPr/>
        </p:nvSpPr>
        <p:spPr>
          <a:xfrm>
            <a:off x="7915275" y="1263650"/>
            <a:ext cx="1371600" cy="1600200"/>
          </a:xfrm>
          <a:prstGeom prst="roundRect">
            <a:avLst>
              <a:gd fmla="val 25" name="adj"/>
            </a:avLst>
          </a:prstGeom>
          <a:no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146" name="Google Shape;146;p11"/>
          <p:cNvSpPr txBox="1"/>
          <p:nvPr/>
        </p:nvSpPr>
        <p:spPr>
          <a:xfrm>
            <a:off x="2439987" y="2286000"/>
            <a:ext cx="1409700" cy="485775"/>
          </a:xfrm>
          <a:prstGeom prst="rect">
            <a:avLst/>
          </a:prstGeom>
          <a:noFill/>
          <a:ln>
            <a:noFill/>
          </a:ln>
        </p:spPr>
        <p:txBody>
          <a:bodyPr anchorCtr="0" anchor="t"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Octopus BDB</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Virtual Machine</a:t>
            </a:r>
            <a:endParaRPr/>
          </a:p>
        </p:txBody>
      </p:sp>
      <p:sp>
        <p:nvSpPr>
          <p:cNvPr id="147" name="Google Shape;147;p11"/>
          <p:cNvSpPr txBox="1"/>
          <p:nvPr/>
        </p:nvSpPr>
        <p:spPr>
          <a:xfrm>
            <a:off x="3808412" y="2286000"/>
            <a:ext cx="1441450" cy="485775"/>
          </a:xfrm>
          <a:prstGeom prst="rect">
            <a:avLst/>
          </a:prstGeom>
          <a:noFill/>
          <a:ln>
            <a:noFill/>
          </a:ln>
        </p:spPr>
        <p:txBody>
          <a:bodyPr anchorCtr="0" anchor="t"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Octopus Mongo</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Virtual Machine</a:t>
            </a:r>
            <a:endParaRPr/>
          </a:p>
        </p:txBody>
      </p:sp>
      <p:sp>
        <p:nvSpPr>
          <p:cNvPr id="148" name="Google Shape;148;p11"/>
          <p:cNvSpPr txBox="1"/>
          <p:nvPr/>
        </p:nvSpPr>
        <p:spPr>
          <a:xfrm>
            <a:off x="5140325" y="2286000"/>
            <a:ext cx="1487487" cy="485775"/>
          </a:xfrm>
          <a:prstGeom prst="rect">
            <a:avLst/>
          </a:prstGeom>
          <a:noFill/>
          <a:ln>
            <a:noFill/>
          </a:ln>
        </p:spPr>
        <p:txBody>
          <a:bodyPr anchorCtr="0" anchor="t"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Octopus MySQL</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Virtual Machine</a:t>
            </a:r>
            <a:endParaRPr/>
          </a:p>
        </p:txBody>
      </p:sp>
      <p:sp>
        <p:nvSpPr>
          <p:cNvPr id="149" name="Google Shape;149;p11"/>
          <p:cNvSpPr txBox="1"/>
          <p:nvPr/>
        </p:nvSpPr>
        <p:spPr>
          <a:xfrm>
            <a:off x="6508750" y="2287587"/>
            <a:ext cx="1409700" cy="485775"/>
          </a:xfrm>
          <a:prstGeom prst="rect">
            <a:avLst/>
          </a:prstGeom>
          <a:noFill/>
          <a:ln>
            <a:noFill/>
          </a:ln>
        </p:spPr>
        <p:txBody>
          <a:bodyPr anchorCtr="0" anchor="t"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Octopus Redis</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Virtual Machine</a:t>
            </a:r>
            <a:endParaRPr/>
          </a:p>
        </p:txBody>
      </p:sp>
      <p:sp>
        <p:nvSpPr>
          <p:cNvPr id="150" name="Google Shape;150;p11"/>
          <p:cNvSpPr txBox="1"/>
          <p:nvPr/>
        </p:nvSpPr>
        <p:spPr>
          <a:xfrm>
            <a:off x="7875587" y="2287587"/>
            <a:ext cx="1409700" cy="485775"/>
          </a:xfrm>
          <a:prstGeom prst="rect">
            <a:avLst/>
          </a:prstGeom>
          <a:noFill/>
          <a:ln>
            <a:noFill/>
          </a:ln>
        </p:spPr>
        <p:txBody>
          <a:bodyPr anchorCtr="0" anchor="t"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Octopus db4o</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Virtual Machine</a:t>
            </a:r>
            <a:endParaRPr/>
          </a:p>
        </p:txBody>
      </p:sp>
      <p:sp>
        <p:nvSpPr>
          <p:cNvPr id="151" name="Google Shape;151;p11"/>
          <p:cNvSpPr/>
          <p:nvPr/>
        </p:nvSpPr>
        <p:spPr>
          <a:xfrm>
            <a:off x="3200400" y="3465512"/>
            <a:ext cx="1600200" cy="877887"/>
          </a:xfrm>
          <a:prstGeom prst="roundRect">
            <a:avLst>
              <a:gd fmla="val 39" name="adj"/>
            </a:avLst>
          </a:prstGeom>
          <a:solidFill>
            <a:srgbClr val="FF950E"/>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iSaaS VM</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(interactive Statistical analysis as a Service)</a:t>
            </a:r>
            <a:endParaRPr/>
          </a:p>
        </p:txBody>
      </p:sp>
      <p:sp>
        <p:nvSpPr>
          <p:cNvPr id="152" name="Google Shape;152;p11"/>
          <p:cNvSpPr/>
          <p:nvPr/>
        </p:nvSpPr>
        <p:spPr>
          <a:xfrm>
            <a:off x="4964112" y="3465512"/>
            <a:ext cx="1736725" cy="879475"/>
          </a:xfrm>
          <a:prstGeom prst="roundRect">
            <a:avLst>
              <a:gd fmla="val 38" name="adj"/>
            </a:avLst>
          </a:prstGeom>
          <a:solidFill>
            <a:srgbClr val="FF950E"/>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iOaaS VM</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(interactive Optimization</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as a Service)</a:t>
            </a:r>
            <a:endParaRPr/>
          </a:p>
        </p:txBody>
      </p:sp>
      <p:sp>
        <p:nvSpPr>
          <p:cNvPr id="153" name="Google Shape;153;p11"/>
          <p:cNvSpPr/>
          <p:nvPr/>
        </p:nvSpPr>
        <p:spPr>
          <a:xfrm>
            <a:off x="6837362" y="3465512"/>
            <a:ext cx="1600200" cy="879475"/>
          </a:xfrm>
          <a:prstGeom prst="roundRect">
            <a:avLst>
              <a:gd fmla="val 38" name="adj"/>
            </a:avLst>
          </a:prstGeom>
          <a:solidFill>
            <a:srgbClr val="FF950E"/>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ctr">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iNaaS VM</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(interactive Network</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architecture as a</a:t>
            </a:r>
            <a:endParaRPr/>
          </a:p>
          <a:p>
            <a:pPr indent="0" lvl="0" marL="0" marR="0" rtl="0" algn="ctr">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Service)</a:t>
            </a:r>
            <a:endParaRPr/>
          </a:p>
        </p:txBody>
      </p:sp>
      <p:sp>
        <p:nvSpPr>
          <p:cNvPr id="154" name="Google Shape;154;p11"/>
          <p:cNvSpPr/>
          <p:nvPr/>
        </p:nvSpPr>
        <p:spPr>
          <a:xfrm>
            <a:off x="5149850" y="5016500"/>
            <a:ext cx="685800" cy="698500"/>
          </a:xfrm>
          <a:prstGeom prst="roundRect">
            <a:avLst>
              <a:gd fmla="val 50" name="adj"/>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pic>
        <p:nvPicPr>
          <p:cNvPr id="155" name="Google Shape;155;p11"/>
          <p:cNvPicPr preferRelativeResize="0"/>
          <p:nvPr/>
        </p:nvPicPr>
        <p:blipFill rotWithShape="1">
          <a:blip r:embed="rId3">
            <a:alphaModFix/>
          </a:blip>
          <a:srcRect b="0" l="0" r="0" t="0"/>
          <a:stretch/>
        </p:blipFill>
        <p:spPr>
          <a:xfrm>
            <a:off x="7567612" y="4706937"/>
            <a:ext cx="2057400" cy="1128712"/>
          </a:xfrm>
          <a:prstGeom prst="rect">
            <a:avLst/>
          </a:prstGeom>
          <a:noFill/>
          <a:ln>
            <a:noFill/>
          </a:ln>
        </p:spPr>
      </p:pic>
      <p:cxnSp>
        <p:nvCxnSpPr>
          <p:cNvPr id="156" name="Google Shape;156;p11"/>
          <p:cNvCxnSpPr/>
          <p:nvPr/>
        </p:nvCxnSpPr>
        <p:spPr>
          <a:xfrm flipH="1" rot="10800000">
            <a:off x="8915400" y="2854325"/>
            <a:ext cx="1587" cy="1847850"/>
          </a:xfrm>
          <a:prstGeom prst="straightConnector1">
            <a:avLst/>
          </a:prstGeom>
          <a:noFill/>
          <a:ln cap="sq" cmpd="sng" w="9525">
            <a:solidFill>
              <a:srgbClr val="000000"/>
            </a:solidFill>
            <a:prstDash val="solid"/>
            <a:miter lim="800000"/>
            <a:headEnd len="med" w="med" type="none"/>
            <a:tailEnd len="med" w="med" type="triangle"/>
          </a:ln>
        </p:spPr>
      </p:cxnSp>
      <p:cxnSp>
        <p:nvCxnSpPr>
          <p:cNvPr id="157" name="Google Shape;157;p11"/>
          <p:cNvCxnSpPr/>
          <p:nvPr/>
        </p:nvCxnSpPr>
        <p:spPr>
          <a:xfrm>
            <a:off x="8602662" y="2863850"/>
            <a:ext cx="1587" cy="1828800"/>
          </a:xfrm>
          <a:prstGeom prst="straightConnector1">
            <a:avLst/>
          </a:prstGeom>
          <a:noFill/>
          <a:ln cap="sq" cmpd="sng" w="9525">
            <a:solidFill>
              <a:srgbClr val="000000"/>
            </a:solidFill>
            <a:prstDash val="solid"/>
            <a:miter lim="800000"/>
            <a:headEnd len="med" w="med" type="none"/>
            <a:tailEnd len="med" w="med" type="triangle"/>
          </a:ln>
        </p:spPr>
      </p:cxnSp>
      <p:cxnSp>
        <p:nvCxnSpPr>
          <p:cNvPr id="158" name="Google Shape;158;p11"/>
          <p:cNvCxnSpPr/>
          <p:nvPr/>
        </p:nvCxnSpPr>
        <p:spPr>
          <a:xfrm>
            <a:off x="1828800" y="4343400"/>
            <a:ext cx="1587" cy="457200"/>
          </a:xfrm>
          <a:prstGeom prst="straightConnector1">
            <a:avLst/>
          </a:prstGeom>
          <a:noFill/>
          <a:ln cap="sq" cmpd="sng" w="9525">
            <a:solidFill>
              <a:srgbClr val="000000"/>
            </a:solidFill>
            <a:prstDash val="solid"/>
            <a:miter lim="800000"/>
            <a:headEnd len="med" w="med" type="none"/>
            <a:tailEnd len="med" w="med" type="none"/>
          </a:ln>
        </p:spPr>
      </p:cxnSp>
      <p:cxnSp>
        <p:nvCxnSpPr>
          <p:cNvPr id="159" name="Google Shape;159;p11"/>
          <p:cNvCxnSpPr/>
          <p:nvPr/>
        </p:nvCxnSpPr>
        <p:spPr>
          <a:xfrm>
            <a:off x="3886200" y="4343400"/>
            <a:ext cx="1600200" cy="685800"/>
          </a:xfrm>
          <a:prstGeom prst="straightConnector1">
            <a:avLst/>
          </a:prstGeom>
          <a:noFill/>
          <a:ln cap="sq" cmpd="sng" w="9525">
            <a:solidFill>
              <a:srgbClr val="000000"/>
            </a:solidFill>
            <a:prstDash val="solid"/>
            <a:miter lim="800000"/>
            <a:headEnd len="med" w="med" type="none"/>
            <a:tailEnd len="med" w="med" type="none"/>
          </a:ln>
        </p:spPr>
      </p:cxnSp>
      <p:cxnSp>
        <p:nvCxnSpPr>
          <p:cNvPr id="160" name="Google Shape;160;p11"/>
          <p:cNvCxnSpPr/>
          <p:nvPr/>
        </p:nvCxnSpPr>
        <p:spPr>
          <a:xfrm flipH="1">
            <a:off x="5476875" y="4343400"/>
            <a:ext cx="247650" cy="685800"/>
          </a:xfrm>
          <a:prstGeom prst="straightConnector1">
            <a:avLst/>
          </a:prstGeom>
          <a:noFill/>
          <a:ln cap="sq" cmpd="sng" w="9525">
            <a:solidFill>
              <a:srgbClr val="000000"/>
            </a:solidFill>
            <a:prstDash val="solid"/>
            <a:miter lim="800000"/>
            <a:headEnd len="med" w="med" type="none"/>
            <a:tailEnd len="med" w="med" type="none"/>
          </a:ln>
        </p:spPr>
      </p:cxnSp>
      <p:cxnSp>
        <p:nvCxnSpPr>
          <p:cNvPr id="161" name="Google Shape;161;p11"/>
          <p:cNvCxnSpPr/>
          <p:nvPr/>
        </p:nvCxnSpPr>
        <p:spPr>
          <a:xfrm flipH="1">
            <a:off x="5476875" y="4343400"/>
            <a:ext cx="2076450" cy="685800"/>
          </a:xfrm>
          <a:prstGeom prst="straightConnector1">
            <a:avLst/>
          </a:prstGeom>
          <a:noFill/>
          <a:ln cap="sq" cmpd="sng" w="9525">
            <a:solidFill>
              <a:srgbClr val="000000"/>
            </a:solidFill>
            <a:prstDash val="solid"/>
            <a:miter lim="800000"/>
            <a:headEnd len="med" w="med" type="none"/>
            <a:tailEnd len="med" w="med" type="none"/>
          </a:ln>
        </p:spPr>
      </p:cxnSp>
      <p:sp>
        <p:nvSpPr>
          <p:cNvPr id="162" name="Google Shape;162;p11"/>
          <p:cNvSpPr txBox="1"/>
          <p:nvPr/>
        </p:nvSpPr>
        <p:spPr>
          <a:xfrm>
            <a:off x="879475" y="6184900"/>
            <a:ext cx="7075487" cy="59848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*1 – Scheduler provides support for running Octopus models in certain order and at specific time;</a:t>
            </a:r>
            <a:endParaRPr/>
          </a:p>
          <a:p>
            <a:pPr indent="0" lvl="0" marL="0" marR="0" rtl="0" algn="l">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*2 – Model  Runner – run-time environment for Octopus model execution;</a:t>
            </a:r>
            <a:endParaRPr/>
          </a:p>
          <a:p>
            <a:pPr indent="0" lvl="0" marL="0" marR="0" rtl="0" algn="l">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*3 – START (STAtistical Research Table) – server side support for Octopus ES2</a:t>
            </a:r>
            <a:endParaRPr/>
          </a:p>
        </p:txBody>
      </p:sp>
      <p:sp>
        <p:nvSpPr>
          <p:cNvPr id="163" name="Google Shape;163;p11"/>
          <p:cNvSpPr txBox="1"/>
          <p:nvPr/>
        </p:nvSpPr>
        <p:spPr>
          <a:xfrm>
            <a:off x="1130300" y="5919787"/>
            <a:ext cx="1527175"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 portal </a:t>
            </a:r>
            <a:endParaRPr/>
          </a:p>
        </p:txBody>
      </p:sp>
      <p:sp>
        <p:nvSpPr>
          <p:cNvPr id="164" name="Google Shape;164;p11"/>
          <p:cNvSpPr txBox="1"/>
          <p:nvPr/>
        </p:nvSpPr>
        <p:spPr>
          <a:xfrm>
            <a:off x="7862887" y="5776912"/>
            <a:ext cx="1727200"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 designer </a:t>
            </a:r>
            <a:endParaRPr/>
          </a:p>
        </p:txBody>
      </p:sp>
      <p:sp>
        <p:nvSpPr>
          <p:cNvPr id="165" name="Google Shape;165;p11"/>
          <p:cNvSpPr txBox="1"/>
          <p:nvPr/>
        </p:nvSpPr>
        <p:spPr>
          <a:xfrm>
            <a:off x="4400550" y="5715000"/>
            <a:ext cx="2000250"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Custom applications </a:t>
            </a:r>
            <a:endParaRPr/>
          </a:p>
        </p:txBody>
      </p:sp>
      <p:sp>
        <p:nvSpPr>
          <p:cNvPr id="166" name="Google Shape;166;p11"/>
          <p:cNvSpPr/>
          <p:nvPr/>
        </p:nvSpPr>
        <p:spPr>
          <a:xfrm>
            <a:off x="3200400" y="2971800"/>
            <a:ext cx="2971800" cy="420687"/>
          </a:xfrm>
          <a:prstGeom prst="roundRect">
            <a:avLst>
              <a:gd fmla="val 150" name="adj"/>
            </a:avLst>
          </a:prstGeom>
          <a:solidFill>
            <a:srgbClr val="CC6633"/>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 </a:t>
            </a:r>
            <a:r>
              <a:rPr lang="en-US"/>
              <a:t>Mapreduce</a:t>
            </a:r>
            <a:r>
              <a:rPr b="0" i="0" lang="en-US" sz="1400" u="none">
                <a:solidFill>
                  <a:srgbClr val="000000"/>
                </a:solidFill>
                <a:latin typeface="Arial"/>
                <a:ea typeface="Arial"/>
                <a:cs typeface="Arial"/>
                <a:sym typeface="Arial"/>
              </a:rPr>
              <a:t> Service VM</a:t>
            </a:r>
            <a:endParaRPr/>
          </a:p>
        </p:txBody>
      </p:sp>
      <p:sp>
        <p:nvSpPr>
          <p:cNvPr id="167" name="Google Shape;167;p11"/>
          <p:cNvSpPr/>
          <p:nvPr/>
        </p:nvSpPr>
        <p:spPr>
          <a:xfrm>
            <a:off x="6316662" y="2971800"/>
            <a:ext cx="2128837" cy="420687"/>
          </a:xfrm>
          <a:prstGeom prst="roundRect">
            <a:avLst>
              <a:gd fmla="val 150" name="adj"/>
            </a:avLst>
          </a:prstGeom>
          <a:solidFill>
            <a:srgbClr val="9999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 </a:t>
            </a:r>
            <a:r>
              <a:rPr lang="en-US"/>
              <a:t>Rabbitmq</a:t>
            </a:r>
            <a:r>
              <a:rPr b="0" i="0" lang="en-US" sz="1400" u="none">
                <a:solidFill>
                  <a:srgbClr val="000000"/>
                </a:solidFill>
                <a:latin typeface="Arial"/>
                <a:ea typeface="Arial"/>
                <a:cs typeface="Arial"/>
                <a:sym typeface="Arial"/>
              </a:rPr>
              <a:t> VM</a:t>
            </a:r>
            <a:endParaRPr/>
          </a:p>
        </p:txBody>
      </p:sp>
      <p:sp>
        <p:nvSpPr>
          <p:cNvPr id="168" name="Google Shape;168;p11"/>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169" name="Google Shape;169;p11"/>
          <p:cNvPicPr preferRelativeResize="0"/>
          <p:nvPr/>
        </p:nvPicPr>
        <p:blipFill rotWithShape="1">
          <a:blip r:embed="rId4">
            <a:alphaModFix/>
          </a:blip>
          <a:srcRect b="0" l="2882" r="2882" t="10159"/>
          <a:stretch/>
        </p:blipFill>
        <p:spPr>
          <a:xfrm>
            <a:off x="1008062" y="4824412"/>
            <a:ext cx="1871662" cy="1152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2"/>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3200"/>
              <a:buFont typeface="Arial"/>
              <a:buNone/>
            </a:pPr>
            <a:r>
              <a:rPr b="0" i="0" lang="en-US" sz="3200" u="none">
                <a:solidFill>
                  <a:srgbClr val="000000"/>
                </a:solidFill>
                <a:latin typeface="Arial"/>
                <a:ea typeface="Arial"/>
                <a:cs typeface="Arial"/>
                <a:sym typeface="Arial"/>
              </a:rPr>
              <a:t>Octopus CIP web services</a:t>
            </a:r>
            <a:endParaRPr/>
          </a:p>
        </p:txBody>
      </p:sp>
      <p:sp>
        <p:nvSpPr>
          <p:cNvPr id="176" name="Google Shape;176;p12"/>
          <p:cNvSpPr txBox="1"/>
          <p:nvPr/>
        </p:nvSpPr>
        <p:spPr>
          <a:xfrm>
            <a:off x="650875" y="1404937"/>
            <a:ext cx="8915400" cy="429736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Octopus CIP Web services are built using Octopus models and are implemented as an image of the specifically configured Virtual Machine. This VM serves as a container for one or several Octopus models. Each image has built-in support for the following:</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self monitoring and self diagnostics;</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input request queue management;</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input request filtering;</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Octopus models execution control and model’s state persistence.</a:t>
            </a:r>
            <a:endParaRPr/>
          </a:p>
          <a:p>
            <a:pPr indent="0" lvl="0" marL="0" marR="0" rtl="0" algn="l">
              <a:lnSpc>
                <a:spcPct val="93000"/>
              </a:lnSpc>
              <a:spcBef>
                <a:spcPts val="0"/>
              </a:spcBef>
              <a:spcAft>
                <a:spcPts val="0"/>
              </a:spcAft>
              <a:buClr>
                <a:srgbClr val="FFFFFF"/>
              </a:buClr>
              <a:buSzPts val="1600"/>
              <a:buFont typeface="Arial"/>
              <a:buNone/>
            </a:pPr>
            <a:r>
              <a:t/>
            </a:r>
            <a:endParaRPr b="0" i="0" sz="16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There are two major types of services:</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common services: </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Interactive Statistical Analysis as a Service (iSaaS);</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Interactive Optimization  as a Service (iOaaS);</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Interactive Network management  as a Service (iNaaS);</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internal services, that provide support for Octopus </a:t>
            </a:r>
            <a:r>
              <a:rPr lang="en-US" sz="1600"/>
              <a:t>Mapreduce</a:t>
            </a:r>
            <a:r>
              <a:rPr b="0" i="0" lang="en-US" sz="1600" u="none">
                <a:solidFill>
                  <a:srgbClr val="000000"/>
                </a:solidFill>
                <a:latin typeface="Arial"/>
                <a:ea typeface="Arial"/>
                <a:cs typeface="Arial"/>
                <a:sym typeface="Arial"/>
              </a:rPr>
              <a:t> and access to system databases.</a:t>
            </a:r>
            <a:endParaRPr/>
          </a:p>
          <a:p>
            <a:pPr indent="0" lvl="0" marL="0" marR="0" rtl="0" algn="l">
              <a:lnSpc>
                <a:spcPct val="93000"/>
              </a:lnSpc>
              <a:spcBef>
                <a:spcPts val="0"/>
              </a:spcBef>
              <a:spcAft>
                <a:spcPts val="0"/>
              </a:spcAft>
              <a:buClr>
                <a:srgbClr val="FFFFFF"/>
              </a:buClr>
              <a:buSzPts val="1600"/>
              <a:buFont typeface="Arial"/>
              <a:buNone/>
            </a:pPr>
            <a:r>
              <a:t/>
            </a:r>
            <a:endParaRPr b="0" i="0" sz="16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Octopus web services interact with each other in process of delivering required results. </a:t>
            </a:r>
            <a:endParaRPr/>
          </a:p>
        </p:txBody>
      </p:sp>
      <p:sp>
        <p:nvSpPr>
          <p:cNvPr id="177" name="Google Shape;177;p12"/>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13"/>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ctr">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Interactive Statistical Analysis as a Service (iSaaS)</a:t>
            </a:r>
            <a:endParaRPr/>
          </a:p>
        </p:txBody>
      </p:sp>
      <p:sp>
        <p:nvSpPr>
          <p:cNvPr id="184" name="Google Shape;184;p13"/>
          <p:cNvSpPr txBox="1"/>
          <p:nvPr/>
        </p:nvSpPr>
        <p:spPr>
          <a:xfrm>
            <a:off x="914400" y="984250"/>
            <a:ext cx="8686800" cy="565626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lang="en-US"/>
              <a:t>Let's</a:t>
            </a:r>
            <a:r>
              <a:rPr b="0" i="0" lang="en-US" sz="1400" u="none">
                <a:solidFill>
                  <a:srgbClr val="000000"/>
                </a:solidFill>
                <a:latin typeface="Arial"/>
                <a:ea typeface="Arial"/>
                <a:cs typeface="Arial"/>
                <a:sym typeface="Arial"/>
              </a:rPr>
              <a:t> look at iSaaS using Agricultural subsidy management as an example.</a:t>
            </a:r>
            <a:endParaRPr/>
          </a:p>
          <a:p>
            <a:pPr indent="0" lvl="0" marL="0" marR="0" rtl="0" algn="l">
              <a:lnSpc>
                <a:spcPct val="93000"/>
              </a:lnSpc>
              <a:spcBef>
                <a:spcPts val="0"/>
              </a:spcBef>
              <a:spcAft>
                <a:spcPts val="0"/>
              </a:spcAft>
              <a:buClr>
                <a:srgbClr val="FFFFFF"/>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Subsidizing is a common way to smoothing out the risks of doing business in agricultural sector.  The volume of subsidies is dependent on production volume and specific agricultural product’s price. Uncertainties that are accompanying agricultural business, require continuous price and production monitoring.</a:t>
            </a:r>
            <a:endParaRPr/>
          </a:p>
          <a:p>
            <a:pPr indent="0" lvl="0" marL="0" marR="0" rtl="0" algn="l">
              <a:lnSpc>
                <a:spcPct val="93000"/>
              </a:lnSpc>
              <a:spcBef>
                <a:spcPts val="0"/>
              </a:spcBef>
              <a:spcAft>
                <a:spcPts val="0"/>
              </a:spcAft>
              <a:buClr>
                <a:srgbClr val="FFFFFF"/>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The next slide presents a typical Octopus model that can be used to monitor some process with constantly changing parameters. This model can use feed from one or several data sources. Databases, raw data streams or message queues are possible types of such data sources. Octopus models can handle those sources using specialized source processors. Different sources can be synchronized using time stamp or any other </a:t>
            </a:r>
            <a:r>
              <a:rPr lang="en-US"/>
              <a:t>auto increment</a:t>
            </a:r>
            <a:r>
              <a:rPr b="0" i="0" lang="en-US" sz="1400" u="none">
                <a:solidFill>
                  <a:srgbClr val="000000"/>
                </a:solidFill>
                <a:latin typeface="Arial"/>
                <a:ea typeface="Arial"/>
                <a:cs typeface="Arial"/>
                <a:sym typeface="Arial"/>
              </a:rPr>
              <a:t> parameter from the data stream.</a:t>
            </a:r>
            <a:endParaRPr/>
          </a:p>
          <a:p>
            <a:pPr indent="0" lvl="0" marL="0" marR="0" rtl="0" algn="l">
              <a:lnSpc>
                <a:spcPct val="93000"/>
              </a:lnSpc>
              <a:spcBef>
                <a:spcPts val="0"/>
              </a:spcBef>
              <a:spcAft>
                <a:spcPts val="0"/>
              </a:spcAft>
              <a:buClr>
                <a:srgbClr val="FFFFFF"/>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Algorithm, presented by the model, is very simple. We are using Simple Moving Average (SMA) to smouth out prices on agricultural products. SMA is recalculated whenever new price value becomes available. We are calculating two SMAs </a:t>
            </a:r>
            <a:r>
              <a:rPr lang="en-US"/>
              <a:t>simultaneously</a:t>
            </a:r>
            <a:r>
              <a:rPr b="0" i="0" lang="en-US" sz="1400" u="none">
                <a:solidFill>
                  <a:srgbClr val="000000"/>
                </a:solidFill>
                <a:latin typeface="Arial"/>
                <a:ea typeface="Arial"/>
                <a:cs typeface="Arial"/>
                <a:sym typeface="Arial"/>
              </a:rPr>
              <a:t>: one, with a short time window and the other one with a longer  time window. Short SMA reflects more current price trend while the longer one  represents a long term trend. Each SMA can be associated with a corresponding graph. Those graphs can behave differently, sometimes they can cross each other. There are two types of </a:t>
            </a:r>
            <a:r>
              <a:rPr lang="en-US"/>
              <a:t>intersections</a:t>
            </a:r>
            <a:r>
              <a:rPr b="0" i="0" lang="en-US" sz="1400" u="none">
                <a:solidFill>
                  <a:srgbClr val="000000"/>
                </a:solidFill>
                <a:latin typeface="Arial"/>
                <a:ea typeface="Arial"/>
                <a:cs typeface="Arial"/>
                <a:sym typeface="Arial"/>
              </a:rPr>
              <a:t>:</a:t>
            </a:r>
            <a:endParaRPr/>
          </a:p>
          <a:p>
            <a:pPr indent="0" lvl="0" marL="0" marR="0" rtl="0" algn="l">
              <a:lnSpc>
                <a:spcPct val="93000"/>
              </a:lnSpc>
              <a:spcBef>
                <a:spcPts val="0"/>
              </a:spcBef>
              <a:spcAft>
                <a:spcPts val="0"/>
              </a:spcAft>
              <a:buClr>
                <a:srgbClr val="FFFFFF"/>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 Short SMA can cross long one from above;</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 Short SMA can cross long one from under.</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 </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The first type of </a:t>
            </a:r>
            <a:r>
              <a:rPr lang="en-US"/>
              <a:t>intersection</a:t>
            </a:r>
            <a:r>
              <a:rPr b="0" i="0" lang="en-US" sz="1400" u="none">
                <a:solidFill>
                  <a:srgbClr val="000000"/>
                </a:solidFill>
                <a:latin typeface="Arial"/>
                <a:ea typeface="Arial"/>
                <a:cs typeface="Arial"/>
                <a:sym typeface="Arial"/>
              </a:rPr>
              <a:t> can be interpreted as an indicator of decreasing price. The second one is an indication of an increase in the price. These </a:t>
            </a:r>
            <a:r>
              <a:rPr lang="en-US"/>
              <a:t>intersections</a:t>
            </a:r>
            <a:r>
              <a:rPr b="0" i="0" lang="en-US" sz="1400" u="none">
                <a:solidFill>
                  <a:srgbClr val="000000"/>
                </a:solidFill>
                <a:latin typeface="Arial"/>
                <a:ea typeface="Arial"/>
                <a:cs typeface="Arial"/>
                <a:sym typeface="Arial"/>
              </a:rPr>
              <a:t> are the signals of trend changes, that should be addressed by subsidy distribution adjustments .</a:t>
            </a:r>
            <a:endParaRPr/>
          </a:p>
        </p:txBody>
      </p:sp>
      <p:sp>
        <p:nvSpPr>
          <p:cNvPr id="185" name="Google Shape;185;p13"/>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4"/>
          <p:cNvSpPr txBox="1"/>
          <p:nvPr/>
        </p:nvSpPr>
        <p:spPr>
          <a:xfrm>
            <a:off x="457200" y="482600"/>
            <a:ext cx="4502150" cy="40163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200"/>
              <a:buFont typeface="Arial"/>
              <a:buNone/>
            </a:pPr>
            <a:r>
              <a:rPr b="0" i="0" lang="en-US" sz="2200" u="none">
                <a:solidFill>
                  <a:srgbClr val="000000"/>
                </a:solidFill>
                <a:latin typeface="Arial"/>
                <a:ea typeface="Arial"/>
                <a:cs typeface="Arial"/>
                <a:sym typeface="Arial"/>
              </a:rPr>
              <a:t>Agricultural products price monitoring</a:t>
            </a:r>
            <a:endParaRPr/>
          </a:p>
        </p:txBody>
      </p:sp>
      <p:sp>
        <p:nvSpPr>
          <p:cNvPr id="192" name="Google Shape;192;p14"/>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193" name="Google Shape;193;p14"/>
          <p:cNvPicPr preferRelativeResize="0"/>
          <p:nvPr/>
        </p:nvPicPr>
        <p:blipFill rotWithShape="1">
          <a:blip r:embed="rId3">
            <a:alphaModFix/>
          </a:blip>
          <a:srcRect b="0" l="0" r="0" t="0"/>
          <a:stretch/>
        </p:blipFill>
        <p:spPr>
          <a:xfrm>
            <a:off x="457200" y="1203425"/>
            <a:ext cx="8880575" cy="5540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5"/>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Interactive Optimization as a Service (iOaaS)</a:t>
            </a:r>
            <a:endParaRPr/>
          </a:p>
        </p:txBody>
      </p:sp>
      <p:sp>
        <p:nvSpPr>
          <p:cNvPr id="200" name="Google Shape;200;p15"/>
          <p:cNvSpPr txBox="1"/>
          <p:nvPr/>
        </p:nvSpPr>
        <p:spPr>
          <a:xfrm>
            <a:off x="457200" y="1722437"/>
            <a:ext cx="9144000" cy="400367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Constraint Programming (CP) is a relatively new direction in software development to address optimization problems in Enterprise Resource planning.</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There are several established implementations available as Open Source or with commercial licensing (Choco, Constrainer – OSS; Gurobi, IBM ILOG – commercial licensing). Most of these systems are developed in Java or can be used as part of Java applications. JSR-331 (Java Constraint Programming API) is a standard base that provides compatibility between applications, developed using different implementations of Constraint Programming.</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iOaaS is an interactive container that provides support for the Octopus optimization models. CP functionality is implemented as a set of Octopus processors.</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iOaaS can work with all JSR-331 compatible API.</a:t>
            </a:r>
            <a:endParaRPr/>
          </a:p>
        </p:txBody>
      </p:sp>
      <p:sp>
        <p:nvSpPr>
          <p:cNvPr id="201" name="Google Shape;201;p15"/>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6"/>
          <p:cNvSpPr txBox="1"/>
          <p:nvPr/>
        </p:nvSpPr>
        <p:spPr>
          <a:xfrm>
            <a:off x="530225" y="284162"/>
            <a:ext cx="9070975" cy="401637"/>
          </a:xfrm>
          <a:prstGeom prst="rect">
            <a:avLst/>
          </a:prstGeom>
          <a:noFill/>
          <a:ln>
            <a:noFill/>
          </a:ln>
        </p:spPr>
        <p:txBody>
          <a:bodyPr anchorCtr="0" anchor="ctr" bIns="0" lIns="0" spcFirstLastPara="1" rIns="0" wrap="square" tIns="19425">
            <a:noAutofit/>
          </a:bodyPr>
          <a:lstStyle/>
          <a:p>
            <a:pPr indent="0" lvl="0" marL="0" marR="0" rtl="0" algn="l">
              <a:lnSpc>
                <a:spcPct val="93000"/>
              </a:lnSpc>
              <a:spcBef>
                <a:spcPts val="0"/>
              </a:spcBef>
              <a:spcAft>
                <a:spcPts val="0"/>
              </a:spcAft>
              <a:buClr>
                <a:srgbClr val="000000"/>
              </a:buClr>
              <a:buSzPts val="2200"/>
              <a:buFont typeface="Arial"/>
              <a:buNone/>
            </a:pPr>
            <a:r>
              <a:rPr b="0" i="0" lang="en-US" sz="2200" u="none">
                <a:solidFill>
                  <a:srgbClr val="000000"/>
                </a:solidFill>
                <a:latin typeface="Arial"/>
                <a:ea typeface="Arial"/>
                <a:cs typeface="Arial"/>
                <a:sym typeface="Arial"/>
              </a:rPr>
              <a:t>Two ways of iOaaS installation and usage:</a:t>
            </a:r>
            <a:endParaRPr/>
          </a:p>
        </p:txBody>
      </p:sp>
      <p:sp>
        <p:nvSpPr>
          <p:cNvPr id="208" name="Google Shape;208;p16"/>
          <p:cNvSpPr txBox="1"/>
          <p:nvPr/>
        </p:nvSpPr>
        <p:spPr>
          <a:xfrm>
            <a:off x="442912" y="711200"/>
            <a:ext cx="8942387" cy="660400"/>
          </a:xfrm>
          <a:prstGeom prst="rect">
            <a:avLst/>
          </a:prstGeom>
          <a:noFill/>
          <a:ln>
            <a:noFill/>
          </a:ln>
        </p:spPr>
        <p:txBody>
          <a:bodyPr anchorCtr="0" anchor="t" bIns="45000" lIns="90000" spcFirstLastPara="1" rIns="90000" wrap="square" tIns="62625">
            <a:noAutofit/>
          </a:bodyPr>
          <a:lstStyle/>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Enterprise Data Center local installation (Private Cloud)</a:t>
            </a:r>
            <a:endParaRPr/>
          </a:p>
        </p:txBody>
      </p:sp>
      <p:pic>
        <p:nvPicPr>
          <p:cNvPr id="209" name="Google Shape;209;p16"/>
          <p:cNvPicPr preferRelativeResize="0"/>
          <p:nvPr/>
        </p:nvPicPr>
        <p:blipFill rotWithShape="1">
          <a:blip r:embed="rId3">
            <a:alphaModFix/>
          </a:blip>
          <a:srcRect b="0" l="0" r="0" t="0"/>
          <a:stretch/>
        </p:blipFill>
        <p:spPr>
          <a:xfrm>
            <a:off x="315912" y="1803400"/>
            <a:ext cx="4027487" cy="2311400"/>
          </a:xfrm>
          <a:prstGeom prst="rect">
            <a:avLst/>
          </a:prstGeom>
          <a:noFill/>
          <a:ln>
            <a:noFill/>
          </a:ln>
        </p:spPr>
      </p:pic>
      <p:sp>
        <p:nvSpPr>
          <p:cNvPr id="210" name="Google Shape;210;p16"/>
          <p:cNvSpPr/>
          <p:nvPr/>
        </p:nvSpPr>
        <p:spPr>
          <a:xfrm>
            <a:off x="7772400" y="1265237"/>
            <a:ext cx="1600200" cy="1177925"/>
          </a:xfrm>
          <a:prstGeom prst="can">
            <a:avLst>
              <a:gd fmla="val 5400" name="adj"/>
            </a:avLst>
          </a:prstGeom>
          <a:solidFill>
            <a:srgbClr val="99CCFF"/>
          </a:solidFill>
          <a:ln cap="sq" cmpd="sng" w="9525">
            <a:solidFill>
              <a:srgbClr val="000000"/>
            </a:solidFill>
            <a:prstDash val="solid"/>
            <a:miter lim="800000"/>
            <a:headEnd len="sm" w="sm" type="none"/>
            <a:tailEnd len="sm" w="sm" type="none"/>
          </a:ln>
        </p:spPr>
        <p:txBody>
          <a:bodyPr anchorCtr="0"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Object DB</a:t>
            </a:r>
            <a:endParaRPr/>
          </a:p>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for Octopus </a:t>
            </a:r>
            <a:endParaRPr/>
          </a:p>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models</a:t>
            </a:r>
            <a:endParaRPr/>
          </a:p>
        </p:txBody>
      </p:sp>
      <p:sp>
        <p:nvSpPr>
          <p:cNvPr id="211" name="Google Shape;211;p16"/>
          <p:cNvSpPr/>
          <p:nvPr/>
        </p:nvSpPr>
        <p:spPr>
          <a:xfrm>
            <a:off x="5943600" y="2443162"/>
            <a:ext cx="1600200" cy="685800"/>
          </a:xfrm>
          <a:prstGeom prst="roundRect">
            <a:avLst>
              <a:gd fmla="val 50"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Web DAV</a:t>
            </a:r>
            <a:endParaRPr/>
          </a:p>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File System</a:t>
            </a:r>
            <a:endParaRPr/>
          </a:p>
        </p:txBody>
      </p:sp>
      <p:sp>
        <p:nvSpPr>
          <p:cNvPr id="212" name="Google Shape;212;p16"/>
          <p:cNvSpPr/>
          <p:nvPr/>
        </p:nvSpPr>
        <p:spPr>
          <a:xfrm>
            <a:off x="7772400" y="2647950"/>
            <a:ext cx="1600200" cy="1143000"/>
          </a:xfrm>
          <a:prstGeom prst="can">
            <a:avLst>
              <a:gd fmla="val 5400" name="adj"/>
            </a:avLst>
          </a:prstGeom>
          <a:solidFill>
            <a:srgbClr val="99CCFF"/>
          </a:solidFill>
          <a:ln cap="sq" cmpd="sng" w="9525">
            <a:solidFill>
              <a:srgbClr val="000000"/>
            </a:solidFill>
            <a:prstDash val="solid"/>
            <a:miter lim="800000"/>
            <a:headEnd len="sm" w="sm" type="none"/>
            <a:tailEnd len="sm" w="sm" type="none"/>
          </a:ln>
        </p:spPr>
        <p:txBody>
          <a:bodyPr anchorCtr="0"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MySQL</a:t>
            </a:r>
            <a:endParaRPr/>
          </a:p>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DataBase</a:t>
            </a:r>
            <a:endParaRPr/>
          </a:p>
        </p:txBody>
      </p:sp>
      <p:sp>
        <p:nvSpPr>
          <p:cNvPr id="213" name="Google Shape;213;p16"/>
          <p:cNvSpPr/>
          <p:nvPr/>
        </p:nvSpPr>
        <p:spPr>
          <a:xfrm>
            <a:off x="6148387" y="4065587"/>
            <a:ext cx="2081212" cy="506412"/>
          </a:xfrm>
          <a:prstGeom prst="roundRect">
            <a:avLst>
              <a:gd fmla="val 46"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Server</a:t>
            </a:r>
            <a:endParaRPr/>
          </a:p>
        </p:txBody>
      </p:sp>
      <p:cxnSp>
        <p:nvCxnSpPr>
          <p:cNvPr id="214" name="Google Shape;214;p16"/>
          <p:cNvCxnSpPr/>
          <p:nvPr/>
        </p:nvCxnSpPr>
        <p:spPr>
          <a:xfrm>
            <a:off x="5715000" y="1371600"/>
            <a:ext cx="1587" cy="5257800"/>
          </a:xfrm>
          <a:prstGeom prst="straightConnector1">
            <a:avLst/>
          </a:prstGeom>
          <a:noFill/>
          <a:ln cap="sq" cmpd="sng" w="73075">
            <a:solidFill>
              <a:srgbClr val="800080"/>
            </a:solidFill>
            <a:prstDash val="solid"/>
            <a:miter lim="800000"/>
            <a:headEnd len="med" w="med" type="none"/>
            <a:tailEnd len="med" w="med" type="none"/>
          </a:ln>
        </p:spPr>
      </p:cxnSp>
      <p:sp>
        <p:nvSpPr>
          <p:cNvPr id="215" name="Google Shape;215;p16"/>
          <p:cNvSpPr/>
          <p:nvPr/>
        </p:nvSpPr>
        <p:spPr>
          <a:xfrm>
            <a:off x="6858000" y="4668837"/>
            <a:ext cx="2743200" cy="457200"/>
          </a:xfrm>
          <a:prstGeom prst="roundRect">
            <a:avLst>
              <a:gd fmla="val 46"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Model Runner</a:t>
            </a:r>
            <a:endParaRPr/>
          </a:p>
        </p:txBody>
      </p:sp>
      <p:sp>
        <p:nvSpPr>
          <p:cNvPr id="216" name="Google Shape;216;p16"/>
          <p:cNvSpPr/>
          <p:nvPr/>
        </p:nvSpPr>
        <p:spPr>
          <a:xfrm>
            <a:off x="6880225" y="5292725"/>
            <a:ext cx="2720975" cy="422275"/>
          </a:xfrm>
          <a:prstGeom prst="roundRect">
            <a:avLst>
              <a:gd fmla="val 46"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Work Flow</a:t>
            </a:r>
            <a:endParaRPr/>
          </a:p>
        </p:txBody>
      </p:sp>
      <p:sp>
        <p:nvSpPr>
          <p:cNvPr id="217" name="Google Shape;217;p16"/>
          <p:cNvSpPr txBox="1"/>
          <p:nvPr/>
        </p:nvSpPr>
        <p:spPr>
          <a:xfrm>
            <a:off x="5759450" y="1371600"/>
            <a:ext cx="1582737" cy="858837"/>
          </a:xfrm>
          <a:prstGeom prst="rect">
            <a:avLst/>
          </a:prstGeom>
          <a:noFill/>
          <a:ln>
            <a:noFill/>
          </a:ln>
        </p:spPr>
        <p:txBody>
          <a:bodyPr anchorCtr="0" anchor="t" bIns="45000" lIns="90000" spcFirstLastPara="1" rIns="90000" wrap="square" tIns="60825">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VM structure</a:t>
            </a:r>
            <a:endParaRPr/>
          </a:p>
        </p:txBody>
      </p:sp>
      <p:sp>
        <p:nvSpPr>
          <p:cNvPr id="218" name="Google Shape;218;p16"/>
          <p:cNvSpPr txBox="1"/>
          <p:nvPr/>
        </p:nvSpPr>
        <p:spPr>
          <a:xfrm>
            <a:off x="2403475" y="1492250"/>
            <a:ext cx="2006600" cy="346075"/>
          </a:xfrm>
          <a:prstGeom prst="rect">
            <a:avLst/>
          </a:prstGeom>
          <a:noFill/>
          <a:ln>
            <a:noFill/>
          </a:ln>
        </p:spPr>
        <p:txBody>
          <a:bodyPr anchorCtr="0" anchor="t" bIns="45000" lIns="90000" spcFirstLastPara="1" rIns="90000" wrap="square" tIns="60825">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Designer</a:t>
            </a:r>
            <a:endParaRPr/>
          </a:p>
        </p:txBody>
      </p:sp>
      <p:sp>
        <p:nvSpPr>
          <p:cNvPr id="219" name="Google Shape;219;p16"/>
          <p:cNvSpPr txBox="1"/>
          <p:nvPr/>
        </p:nvSpPr>
        <p:spPr>
          <a:xfrm>
            <a:off x="3790950" y="3270250"/>
            <a:ext cx="1690687" cy="346075"/>
          </a:xfrm>
          <a:prstGeom prst="rect">
            <a:avLst/>
          </a:prstGeom>
          <a:noFill/>
          <a:ln>
            <a:noFill/>
          </a:ln>
        </p:spPr>
        <p:txBody>
          <a:bodyPr anchorCtr="0" anchor="t" bIns="45000" lIns="90000" spcFirstLastPara="1" rIns="90000" wrap="square" tIns="60825">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Portal</a:t>
            </a:r>
            <a:endParaRPr/>
          </a:p>
        </p:txBody>
      </p:sp>
      <p:sp>
        <p:nvSpPr>
          <p:cNvPr id="220" name="Google Shape;220;p16"/>
          <p:cNvSpPr/>
          <p:nvPr/>
        </p:nvSpPr>
        <p:spPr>
          <a:xfrm>
            <a:off x="5943600" y="3886200"/>
            <a:ext cx="3886200" cy="2057400"/>
          </a:xfrm>
          <a:prstGeom prst="roundRect">
            <a:avLst>
              <a:gd fmla="val 16" name="adj"/>
            </a:avLst>
          </a:prstGeom>
          <a:no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221" name="Google Shape;221;p16"/>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222" name="Google Shape;222;p16"/>
          <p:cNvPicPr preferRelativeResize="0"/>
          <p:nvPr/>
        </p:nvPicPr>
        <p:blipFill rotWithShape="1">
          <a:blip r:embed="rId4">
            <a:alphaModFix/>
          </a:blip>
          <a:srcRect b="7116" l="3173" r="3456" t="11175"/>
          <a:stretch/>
        </p:blipFill>
        <p:spPr>
          <a:xfrm>
            <a:off x="503237" y="3643312"/>
            <a:ext cx="5040312" cy="2692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17"/>
          <p:cNvSpPr txBox="1"/>
          <p:nvPr/>
        </p:nvSpPr>
        <p:spPr>
          <a:xfrm>
            <a:off x="503237" y="301625"/>
            <a:ext cx="9070975" cy="384175"/>
          </a:xfrm>
          <a:prstGeom prst="rect">
            <a:avLst/>
          </a:prstGeom>
          <a:noFill/>
          <a:ln>
            <a:noFill/>
          </a:ln>
        </p:spPr>
        <p:txBody>
          <a:bodyPr anchorCtr="0" anchor="ctr" bIns="0" lIns="0" spcFirstLastPara="1" rIns="0" wrap="square" tIns="17625">
            <a:noAutofit/>
          </a:bodyPr>
          <a:lstStyle/>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Using iOaaS on Public Cloud as SaaS</a:t>
            </a:r>
            <a:endParaRPr/>
          </a:p>
        </p:txBody>
      </p:sp>
      <p:pic>
        <p:nvPicPr>
          <p:cNvPr id="229" name="Google Shape;229;p17"/>
          <p:cNvPicPr preferRelativeResize="0"/>
          <p:nvPr/>
        </p:nvPicPr>
        <p:blipFill rotWithShape="1">
          <a:blip r:embed="rId3">
            <a:alphaModFix/>
          </a:blip>
          <a:srcRect b="0" l="0" r="0" t="0"/>
          <a:stretch/>
        </p:blipFill>
        <p:spPr>
          <a:xfrm>
            <a:off x="315912" y="1049337"/>
            <a:ext cx="4027487" cy="2311400"/>
          </a:xfrm>
          <a:prstGeom prst="rect">
            <a:avLst/>
          </a:prstGeom>
          <a:noFill/>
          <a:ln>
            <a:noFill/>
          </a:ln>
        </p:spPr>
      </p:pic>
      <p:cxnSp>
        <p:nvCxnSpPr>
          <p:cNvPr id="230" name="Google Shape;230;p17"/>
          <p:cNvCxnSpPr/>
          <p:nvPr/>
        </p:nvCxnSpPr>
        <p:spPr>
          <a:xfrm>
            <a:off x="5715000" y="793750"/>
            <a:ext cx="1587" cy="5943600"/>
          </a:xfrm>
          <a:prstGeom prst="straightConnector1">
            <a:avLst/>
          </a:prstGeom>
          <a:noFill/>
          <a:ln cap="sq" cmpd="sng" w="73075">
            <a:solidFill>
              <a:srgbClr val="800080"/>
            </a:solidFill>
            <a:prstDash val="solid"/>
            <a:miter lim="800000"/>
            <a:headEnd len="med" w="med" type="none"/>
            <a:tailEnd len="med" w="med" type="none"/>
          </a:ln>
        </p:spPr>
      </p:cxnSp>
      <p:sp>
        <p:nvSpPr>
          <p:cNvPr id="231" name="Google Shape;231;p17"/>
          <p:cNvSpPr/>
          <p:nvPr/>
        </p:nvSpPr>
        <p:spPr>
          <a:xfrm>
            <a:off x="7772400" y="963612"/>
            <a:ext cx="1600200" cy="1143000"/>
          </a:xfrm>
          <a:prstGeom prst="can">
            <a:avLst>
              <a:gd fmla="val 5400" name="adj"/>
            </a:avLst>
          </a:prstGeom>
          <a:solidFill>
            <a:srgbClr val="99CCFF"/>
          </a:solidFill>
          <a:ln cap="sq" cmpd="sng" w="9525">
            <a:solidFill>
              <a:srgbClr val="000000"/>
            </a:solidFill>
            <a:prstDash val="solid"/>
            <a:miter lim="800000"/>
            <a:headEnd len="sm" w="sm" type="none"/>
            <a:tailEnd len="sm" w="sm" type="none"/>
          </a:ln>
        </p:spPr>
        <p:txBody>
          <a:bodyPr anchorCtr="0"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Object DB</a:t>
            </a:r>
            <a:endParaRPr/>
          </a:p>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For Octopus</a:t>
            </a:r>
            <a:endParaRPr/>
          </a:p>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models</a:t>
            </a:r>
            <a:endParaRPr/>
          </a:p>
        </p:txBody>
      </p:sp>
      <p:sp>
        <p:nvSpPr>
          <p:cNvPr id="232" name="Google Shape;232;p17"/>
          <p:cNvSpPr/>
          <p:nvPr/>
        </p:nvSpPr>
        <p:spPr>
          <a:xfrm>
            <a:off x="5943600" y="2119312"/>
            <a:ext cx="1600200" cy="685800"/>
          </a:xfrm>
          <a:prstGeom prst="roundRect">
            <a:avLst>
              <a:gd fmla="val 50"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Web DAV</a:t>
            </a:r>
            <a:endParaRPr/>
          </a:p>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File System</a:t>
            </a:r>
            <a:endParaRPr/>
          </a:p>
        </p:txBody>
      </p:sp>
      <p:sp>
        <p:nvSpPr>
          <p:cNvPr id="233" name="Google Shape;233;p17"/>
          <p:cNvSpPr/>
          <p:nvPr/>
        </p:nvSpPr>
        <p:spPr>
          <a:xfrm>
            <a:off x="7772400" y="2324100"/>
            <a:ext cx="1600200" cy="1143000"/>
          </a:xfrm>
          <a:prstGeom prst="can">
            <a:avLst>
              <a:gd fmla="val 5400" name="adj"/>
            </a:avLst>
          </a:prstGeom>
          <a:solidFill>
            <a:srgbClr val="99CCFF"/>
          </a:solidFill>
          <a:ln cap="sq" cmpd="sng" w="9525">
            <a:solidFill>
              <a:srgbClr val="000000"/>
            </a:solidFill>
            <a:prstDash val="solid"/>
            <a:miter lim="800000"/>
            <a:headEnd len="sm" w="sm" type="none"/>
            <a:tailEnd len="sm" w="sm" type="none"/>
          </a:ln>
        </p:spPr>
        <p:txBody>
          <a:bodyPr anchorCtr="0"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MySQL</a:t>
            </a:r>
            <a:endParaRPr/>
          </a:p>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DataBase</a:t>
            </a:r>
            <a:endParaRPr/>
          </a:p>
        </p:txBody>
      </p:sp>
      <p:sp>
        <p:nvSpPr>
          <p:cNvPr id="234" name="Google Shape;234;p17"/>
          <p:cNvSpPr/>
          <p:nvPr/>
        </p:nvSpPr>
        <p:spPr>
          <a:xfrm>
            <a:off x="5943600" y="3576637"/>
            <a:ext cx="2286000" cy="735012"/>
          </a:xfrm>
          <a:prstGeom prst="roundRect">
            <a:avLst>
              <a:gd fmla="val 46"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60825">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a:t>
            </a:r>
            <a:endParaRPr/>
          </a:p>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Server</a:t>
            </a:r>
            <a:endParaRPr/>
          </a:p>
        </p:txBody>
      </p:sp>
      <p:sp>
        <p:nvSpPr>
          <p:cNvPr id="235" name="Google Shape;235;p17"/>
          <p:cNvSpPr txBox="1"/>
          <p:nvPr/>
        </p:nvSpPr>
        <p:spPr>
          <a:xfrm>
            <a:off x="1194050" y="701675"/>
            <a:ext cx="3143100" cy="346200"/>
          </a:xfrm>
          <a:prstGeom prst="rect">
            <a:avLst/>
          </a:prstGeom>
          <a:noFill/>
          <a:ln>
            <a:noFill/>
          </a:ln>
        </p:spPr>
        <p:txBody>
          <a:bodyPr anchorCtr="0" anchor="t" bIns="45000" lIns="90000" spcFirstLastPara="1" rIns="90000" wrap="square" tIns="60825">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Designer</a:t>
            </a:r>
            <a:endParaRPr/>
          </a:p>
        </p:txBody>
      </p:sp>
      <p:sp>
        <p:nvSpPr>
          <p:cNvPr id="236" name="Google Shape;236;p17"/>
          <p:cNvSpPr txBox="1"/>
          <p:nvPr/>
        </p:nvSpPr>
        <p:spPr>
          <a:xfrm>
            <a:off x="2947987" y="2911475"/>
            <a:ext cx="2438400" cy="346075"/>
          </a:xfrm>
          <a:prstGeom prst="rect">
            <a:avLst/>
          </a:prstGeom>
          <a:noFill/>
          <a:ln>
            <a:noFill/>
          </a:ln>
        </p:spPr>
        <p:txBody>
          <a:bodyPr anchorCtr="0" anchor="t" bIns="45000" lIns="90000" spcFirstLastPara="1" rIns="90000" wrap="square" tIns="60825">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Google Spread Sheet </a:t>
            </a:r>
            <a:endParaRPr/>
          </a:p>
        </p:txBody>
      </p:sp>
      <p:sp>
        <p:nvSpPr>
          <p:cNvPr id="237" name="Google Shape;237;p17"/>
          <p:cNvSpPr txBox="1"/>
          <p:nvPr/>
        </p:nvSpPr>
        <p:spPr>
          <a:xfrm>
            <a:off x="5943600" y="4572000"/>
            <a:ext cx="3886200" cy="2135187"/>
          </a:xfrm>
          <a:prstGeom prst="rect">
            <a:avLst/>
          </a:prstGeom>
          <a:noFill/>
          <a:ln>
            <a:noFill/>
          </a:ln>
        </p:spPr>
        <p:txBody>
          <a:bodyPr anchorCtr="0" anchor="t" bIns="45000" lIns="90000" spcFirstLastPara="1" rIns="90000" wrap="square" tIns="59025">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Both installations are using the same set on the server side and slightly different in the user interface. Public Cloud version is using Google Spreadsheets as source and destination data and, as a consequence, it does not require modules that provide support for Octopus Portal. </a:t>
            </a:r>
            <a:endParaRPr/>
          </a:p>
        </p:txBody>
      </p:sp>
      <p:sp>
        <p:nvSpPr>
          <p:cNvPr id="238" name="Google Shape;238;p17"/>
          <p:cNvSpPr txBox="1"/>
          <p:nvPr/>
        </p:nvSpPr>
        <p:spPr>
          <a:xfrm>
            <a:off x="5759450" y="723900"/>
            <a:ext cx="1582737" cy="858837"/>
          </a:xfrm>
          <a:prstGeom prst="rect">
            <a:avLst/>
          </a:prstGeom>
          <a:noFill/>
          <a:ln>
            <a:noFill/>
          </a:ln>
        </p:spPr>
        <p:txBody>
          <a:bodyPr anchorCtr="0" anchor="t" bIns="45000" lIns="90000" spcFirstLastPara="1" rIns="90000" wrap="square" tIns="60825">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Virtual </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Machine </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structure</a:t>
            </a:r>
            <a:endParaRPr/>
          </a:p>
        </p:txBody>
      </p:sp>
      <p:sp>
        <p:nvSpPr>
          <p:cNvPr id="239" name="Google Shape;239;p17"/>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240" name="Google Shape;240;p17"/>
          <p:cNvPicPr preferRelativeResize="0"/>
          <p:nvPr/>
        </p:nvPicPr>
        <p:blipFill rotWithShape="1">
          <a:blip r:embed="rId4">
            <a:alphaModFix/>
          </a:blip>
          <a:srcRect b="10159" l="12107" r="12107" t="13208"/>
          <a:stretch/>
        </p:blipFill>
        <p:spPr>
          <a:xfrm>
            <a:off x="503237" y="3219450"/>
            <a:ext cx="5040312" cy="31162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8"/>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Interactive Network management as a Service (iNaaS)</a:t>
            </a:r>
            <a:endParaRPr/>
          </a:p>
        </p:txBody>
      </p:sp>
      <p:sp>
        <p:nvSpPr>
          <p:cNvPr id="247" name="Google Shape;247;p18"/>
          <p:cNvSpPr txBox="1"/>
          <p:nvPr/>
        </p:nvSpPr>
        <p:spPr>
          <a:xfrm>
            <a:off x="457200" y="998537"/>
            <a:ext cx="9144000" cy="563086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FFFFFF"/>
              </a:buClr>
              <a:buSzPts val="2000"/>
              <a:buFont typeface="Arial"/>
              <a:buNone/>
            </a:pPr>
            <a:r>
              <a:t/>
            </a:r>
            <a:endParaRPr b="0" i="0" sz="20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Cloud technology providers offer virtual resource monitoring tools that can be used to optimize utilization of those resources. Monitoring data can be supplied on regular basis with predefined intervals.  </a:t>
            </a:r>
            <a:endParaRPr/>
          </a:p>
          <a:p>
            <a:pPr indent="0" lvl="0" marL="0" marR="0" rtl="0" algn="l">
              <a:lnSpc>
                <a:spcPct val="93000"/>
              </a:lnSpc>
              <a:spcBef>
                <a:spcPts val="0"/>
              </a:spcBef>
              <a:spcAft>
                <a:spcPts val="0"/>
              </a:spcAft>
              <a:buClr>
                <a:srgbClr val="FFFFFF"/>
              </a:buClr>
              <a:buSzPts val="1600"/>
              <a:buFont typeface="Arial"/>
              <a:buNone/>
            </a:pPr>
            <a:r>
              <a:t/>
            </a:r>
            <a:endParaRPr b="0" i="0" sz="16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For example, Amazon CloudWatch offers following indicators:</a:t>
            </a:r>
            <a:endParaRPr/>
          </a:p>
          <a:p>
            <a:pPr indent="0" lvl="0" marL="0" marR="0" rtl="0" algn="l">
              <a:lnSpc>
                <a:spcPct val="93000"/>
              </a:lnSpc>
              <a:spcBef>
                <a:spcPts val="0"/>
              </a:spcBef>
              <a:spcAft>
                <a:spcPts val="0"/>
              </a:spcAft>
              <a:buClr>
                <a:srgbClr val="FFFFFF"/>
              </a:buClr>
              <a:buSzPts val="1600"/>
              <a:buFont typeface="Arial"/>
              <a:buNone/>
            </a:pPr>
            <a:r>
              <a:t/>
            </a:r>
            <a:endParaRPr b="0" i="0" sz="1600" u="none">
              <a:solidFill>
                <a:srgbClr val="000000"/>
              </a:solidFill>
              <a:latin typeface="Arial"/>
              <a:ea typeface="Arial"/>
              <a:cs typeface="Arial"/>
              <a:sym typeface="Arial"/>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CPUUtilization;</a:t>
            </a:r>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DiskReadBytes;</a:t>
            </a:r>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DiskReadOps;</a:t>
            </a:r>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DiskWriteBytes;</a:t>
            </a:r>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DiskWriteOps;</a:t>
            </a:r>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NetworkIn;</a:t>
            </a:r>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NetworkOut.</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Octopus real-time statistical analysis models can dramatically improve quality of such monitoring. </a:t>
            </a:r>
            <a:endParaRPr/>
          </a:p>
          <a:p>
            <a:pPr indent="0" lvl="0" marL="0" marR="0" rtl="0" algn="l">
              <a:lnSpc>
                <a:spcPct val="93000"/>
              </a:lnSpc>
              <a:spcBef>
                <a:spcPts val="0"/>
              </a:spcBef>
              <a:spcAft>
                <a:spcPts val="0"/>
              </a:spcAft>
              <a:buClr>
                <a:srgbClr val="FFFFFF"/>
              </a:buClr>
              <a:buSzPts val="1600"/>
              <a:buFont typeface="Arial"/>
              <a:buNone/>
            </a:pPr>
            <a:r>
              <a:t/>
            </a:r>
            <a:endParaRPr b="0" i="0" sz="16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Statistical analysis of cloud resource utilization, can use the approach, very similar to the one we have demonstrated earlier, with an example of agricultural product price monitoring and statistical analysis. Such models will  ignore short time picks in resource usage and react by reconfiguring virtual resources in the case of sagnificant changes in usage trends.</a:t>
            </a:r>
            <a:endParaRPr/>
          </a:p>
        </p:txBody>
      </p:sp>
      <p:sp>
        <p:nvSpPr>
          <p:cNvPr id="248" name="Google Shape;248;p18"/>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9"/>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Concurrent real-time analysis</a:t>
            </a:r>
            <a:endParaRPr/>
          </a:p>
        </p:txBody>
      </p:sp>
      <p:sp>
        <p:nvSpPr>
          <p:cNvPr id="255" name="Google Shape;255;p19"/>
          <p:cNvSpPr txBox="1"/>
          <p:nvPr/>
        </p:nvSpPr>
        <p:spPr>
          <a:xfrm>
            <a:off x="490537" y="1030287"/>
            <a:ext cx="8966200" cy="212883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Octopus CIP organically supports parallel and concurrent model based data processing and analysis. Bellow is an example, demonstrating use of three different models to manage company’s cash flow. Each model assumes different dynamics of cash flow and predicts some future cash level value. The fourth model calculates the final cash level value using weighted average. This model recalculates each of the  previous three models (1, 2, 3) weights, based on their performance using very simple criteria: the closer model’s results are to the factual data - the greater weight this model receives in the calculating algorithm.</a:t>
            </a:r>
            <a:endParaRPr/>
          </a:p>
        </p:txBody>
      </p:sp>
      <p:sp>
        <p:nvSpPr>
          <p:cNvPr id="256" name="Google Shape;256;p19"/>
          <p:cNvSpPr/>
          <p:nvPr/>
        </p:nvSpPr>
        <p:spPr>
          <a:xfrm>
            <a:off x="636587" y="3357562"/>
            <a:ext cx="1600200" cy="685800"/>
          </a:xfrm>
          <a:prstGeom prst="roundRect">
            <a:avLst>
              <a:gd fmla="val 50"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Model 1</a:t>
            </a:r>
            <a:endParaRPr/>
          </a:p>
        </p:txBody>
      </p:sp>
      <p:sp>
        <p:nvSpPr>
          <p:cNvPr id="257" name="Google Shape;257;p19"/>
          <p:cNvSpPr/>
          <p:nvPr/>
        </p:nvSpPr>
        <p:spPr>
          <a:xfrm>
            <a:off x="638175" y="4149725"/>
            <a:ext cx="1600200" cy="685800"/>
          </a:xfrm>
          <a:prstGeom prst="roundRect">
            <a:avLst>
              <a:gd fmla="val 50"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Model 2</a:t>
            </a:r>
            <a:endParaRPr/>
          </a:p>
        </p:txBody>
      </p:sp>
      <p:sp>
        <p:nvSpPr>
          <p:cNvPr id="258" name="Google Shape;258;p19"/>
          <p:cNvSpPr/>
          <p:nvPr/>
        </p:nvSpPr>
        <p:spPr>
          <a:xfrm>
            <a:off x="638175" y="4941887"/>
            <a:ext cx="1600200" cy="685800"/>
          </a:xfrm>
          <a:prstGeom prst="roundRect">
            <a:avLst>
              <a:gd fmla="val 50"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Model 3</a:t>
            </a:r>
            <a:endParaRPr/>
          </a:p>
        </p:txBody>
      </p:sp>
      <p:sp>
        <p:nvSpPr>
          <p:cNvPr id="259" name="Google Shape;259;p19"/>
          <p:cNvSpPr/>
          <p:nvPr/>
        </p:nvSpPr>
        <p:spPr>
          <a:xfrm>
            <a:off x="2743200" y="3465512"/>
            <a:ext cx="1371600" cy="457200"/>
          </a:xfrm>
          <a:prstGeom prst="roundRect">
            <a:avLst>
              <a:gd fmla="val 75" name="adj"/>
            </a:avLst>
          </a:prstGeom>
          <a:solidFill>
            <a:srgbClr val="FFCC99"/>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Result 1</a:t>
            </a:r>
            <a:endParaRPr/>
          </a:p>
        </p:txBody>
      </p:sp>
      <p:sp>
        <p:nvSpPr>
          <p:cNvPr id="260" name="Google Shape;260;p19"/>
          <p:cNvSpPr/>
          <p:nvPr/>
        </p:nvSpPr>
        <p:spPr>
          <a:xfrm>
            <a:off x="2743200" y="4257675"/>
            <a:ext cx="1371600" cy="457200"/>
          </a:xfrm>
          <a:prstGeom prst="roundRect">
            <a:avLst>
              <a:gd fmla="val 75" name="adj"/>
            </a:avLst>
          </a:prstGeom>
          <a:solidFill>
            <a:srgbClr val="FFCC99"/>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Result 1</a:t>
            </a:r>
            <a:endParaRPr/>
          </a:p>
        </p:txBody>
      </p:sp>
      <p:sp>
        <p:nvSpPr>
          <p:cNvPr id="261" name="Google Shape;261;p19"/>
          <p:cNvSpPr/>
          <p:nvPr/>
        </p:nvSpPr>
        <p:spPr>
          <a:xfrm>
            <a:off x="2743200" y="5084762"/>
            <a:ext cx="1371600" cy="457200"/>
          </a:xfrm>
          <a:prstGeom prst="roundRect">
            <a:avLst>
              <a:gd fmla="val 75" name="adj"/>
            </a:avLst>
          </a:prstGeom>
          <a:solidFill>
            <a:srgbClr val="FFCC99"/>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Result 1</a:t>
            </a:r>
            <a:endParaRPr/>
          </a:p>
        </p:txBody>
      </p:sp>
      <p:sp>
        <p:nvSpPr>
          <p:cNvPr id="262" name="Google Shape;262;p19"/>
          <p:cNvSpPr/>
          <p:nvPr/>
        </p:nvSpPr>
        <p:spPr>
          <a:xfrm>
            <a:off x="2743200" y="6021387"/>
            <a:ext cx="1371600" cy="457200"/>
          </a:xfrm>
          <a:prstGeom prst="roundRect">
            <a:avLst>
              <a:gd fmla="val 75" name="adj"/>
            </a:avLst>
          </a:prstGeom>
          <a:solidFill>
            <a:srgbClr val="FF420E"/>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Fact value</a:t>
            </a:r>
            <a:endParaRPr/>
          </a:p>
        </p:txBody>
      </p:sp>
      <p:sp>
        <p:nvSpPr>
          <p:cNvPr id="263" name="Google Shape;263;p19"/>
          <p:cNvSpPr/>
          <p:nvPr/>
        </p:nvSpPr>
        <p:spPr>
          <a:xfrm>
            <a:off x="5102225" y="4149725"/>
            <a:ext cx="1600200" cy="685800"/>
          </a:xfrm>
          <a:prstGeom prst="roundRect">
            <a:avLst>
              <a:gd fmla="val 50" name="adj"/>
            </a:avLst>
          </a:prstGeom>
          <a:solidFill>
            <a:srgbClr val="9999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Model 4</a:t>
            </a:r>
            <a:endParaRPr/>
          </a:p>
        </p:txBody>
      </p:sp>
      <p:sp>
        <p:nvSpPr>
          <p:cNvPr id="264" name="Google Shape;264;p19"/>
          <p:cNvSpPr/>
          <p:nvPr/>
        </p:nvSpPr>
        <p:spPr>
          <a:xfrm>
            <a:off x="7315200" y="4257675"/>
            <a:ext cx="1828800" cy="457200"/>
          </a:xfrm>
          <a:prstGeom prst="roundRect">
            <a:avLst>
              <a:gd fmla="val 75" name="adj"/>
            </a:avLst>
          </a:prstGeom>
          <a:solidFill>
            <a:srgbClr val="FF950E"/>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Cash Forecast</a:t>
            </a:r>
            <a:endParaRPr/>
          </a:p>
        </p:txBody>
      </p:sp>
      <p:cxnSp>
        <p:nvCxnSpPr>
          <p:cNvPr id="265" name="Google Shape;265;p19"/>
          <p:cNvCxnSpPr/>
          <p:nvPr/>
        </p:nvCxnSpPr>
        <p:spPr>
          <a:xfrm>
            <a:off x="2286000" y="3694112"/>
            <a:ext cx="457200" cy="1587"/>
          </a:xfrm>
          <a:prstGeom prst="straightConnector1">
            <a:avLst/>
          </a:prstGeom>
          <a:noFill/>
          <a:ln cap="sq" cmpd="sng" w="9525">
            <a:solidFill>
              <a:srgbClr val="000000"/>
            </a:solidFill>
            <a:prstDash val="solid"/>
            <a:miter lim="800000"/>
            <a:headEnd len="med" w="med" type="none"/>
            <a:tailEnd len="med" w="med" type="triangle"/>
          </a:ln>
        </p:spPr>
      </p:cxnSp>
      <p:cxnSp>
        <p:nvCxnSpPr>
          <p:cNvPr id="266" name="Google Shape;266;p19"/>
          <p:cNvCxnSpPr/>
          <p:nvPr/>
        </p:nvCxnSpPr>
        <p:spPr>
          <a:xfrm>
            <a:off x="2286000" y="4486275"/>
            <a:ext cx="457200" cy="1587"/>
          </a:xfrm>
          <a:prstGeom prst="straightConnector1">
            <a:avLst/>
          </a:prstGeom>
          <a:noFill/>
          <a:ln cap="sq" cmpd="sng" w="9525">
            <a:solidFill>
              <a:srgbClr val="000000"/>
            </a:solidFill>
            <a:prstDash val="solid"/>
            <a:miter lim="800000"/>
            <a:headEnd len="med" w="med" type="none"/>
            <a:tailEnd len="med" w="med" type="triangle"/>
          </a:ln>
        </p:spPr>
      </p:cxnSp>
      <p:cxnSp>
        <p:nvCxnSpPr>
          <p:cNvPr id="267" name="Google Shape;267;p19"/>
          <p:cNvCxnSpPr/>
          <p:nvPr/>
        </p:nvCxnSpPr>
        <p:spPr>
          <a:xfrm>
            <a:off x="2286000" y="5349875"/>
            <a:ext cx="457200" cy="1587"/>
          </a:xfrm>
          <a:prstGeom prst="straightConnector1">
            <a:avLst/>
          </a:prstGeom>
          <a:noFill/>
          <a:ln cap="sq" cmpd="sng" w="9525">
            <a:solidFill>
              <a:srgbClr val="000000"/>
            </a:solidFill>
            <a:prstDash val="solid"/>
            <a:miter lim="800000"/>
            <a:headEnd len="med" w="med" type="none"/>
            <a:tailEnd len="med" w="med" type="triangle"/>
          </a:ln>
        </p:spPr>
      </p:cxnSp>
      <p:cxnSp>
        <p:nvCxnSpPr>
          <p:cNvPr id="268" name="Google Shape;268;p19"/>
          <p:cNvCxnSpPr/>
          <p:nvPr/>
        </p:nvCxnSpPr>
        <p:spPr>
          <a:xfrm>
            <a:off x="4114800" y="3573462"/>
            <a:ext cx="914400" cy="914400"/>
          </a:xfrm>
          <a:prstGeom prst="straightConnector1">
            <a:avLst/>
          </a:prstGeom>
          <a:noFill/>
          <a:ln cap="sq" cmpd="sng" w="9525">
            <a:solidFill>
              <a:srgbClr val="000000"/>
            </a:solidFill>
            <a:prstDash val="solid"/>
            <a:miter lim="800000"/>
            <a:headEnd len="med" w="med" type="none"/>
            <a:tailEnd len="med" w="med" type="triangle"/>
          </a:ln>
        </p:spPr>
      </p:cxnSp>
      <p:cxnSp>
        <p:nvCxnSpPr>
          <p:cNvPr id="269" name="Google Shape;269;p19"/>
          <p:cNvCxnSpPr/>
          <p:nvPr/>
        </p:nvCxnSpPr>
        <p:spPr>
          <a:xfrm>
            <a:off x="4114800" y="4487862"/>
            <a:ext cx="914400" cy="1587"/>
          </a:xfrm>
          <a:prstGeom prst="straightConnector1">
            <a:avLst/>
          </a:prstGeom>
          <a:noFill/>
          <a:ln cap="sq" cmpd="sng" w="9525">
            <a:solidFill>
              <a:srgbClr val="000000"/>
            </a:solidFill>
            <a:prstDash val="solid"/>
            <a:miter lim="800000"/>
            <a:headEnd len="med" w="med" type="none"/>
            <a:tailEnd len="med" w="med" type="triangle"/>
          </a:ln>
        </p:spPr>
      </p:cxnSp>
      <p:cxnSp>
        <p:nvCxnSpPr>
          <p:cNvPr id="270" name="Google Shape;270;p19"/>
          <p:cNvCxnSpPr/>
          <p:nvPr/>
        </p:nvCxnSpPr>
        <p:spPr>
          <a:xfrm flipH="1" rot="10800000">
            <a:off x="4114800" y="4483100"/>
            <a:ext cx="914400" cy="923925"/>
          </a:xfrm>
          <a:prstGeom prst="straightConnector1">
            <a:avLst/>
          </a:prstGeom>
          <a:noFill/>
          <a:ln cap="sq" cmpd="sng" w="9525">
            <a:solidFill>
              <a:srgbClr val="000000"/>
            </a:solidFill>
            <a:prstDash val="solid"/>
            <a:miter lim="800000"/>
            <a:headEnd len="med" w="med" type="none"/>
            <a:tailEnd len="med" w="med" type="triangle"/>
          </a:ln>
        </p:spPr>
      </p:cxnSp>
      <p:cxnSp>
        <p:nvCxnSpPr>
          <p:cNvPr id="271" name="Google Shape;271;p19"/>
          <p:cNvCxnSpPr/>
          <p:nvPr/>
        </p:nvCxnSpPr>
        <p:spPr>
          <a:xfrm flipH="1" rot="10800000">
            <a:off x="4114800" y="4483100"/>
            <a:ext cx="914400" cy="1838325"/>
          </a:xfrm>
          <a:prstGeom prst="straightConnector1">
            <a:avLst/>
          </a:prstGeom>
          <a:noFill/>
          <a:ln cap="sq" cmpd="sng" w="9525">
            <a:solidFill>
              <a:srgbClr val="000000"/>
            </a:solidFill>
            <a:prstDash val="solid"/>
            <a:miter lim="800000"/>
            <a:headEnd len="med" w="med" type="none"/>
            <a:tailEnd len="med" w="med" type="triangle"/>
          </a:ln>
        </p:spPr>
      </p:cxnSp>
      <p:cxnSp>
        <p:nvCxnSpPr>
          <p:cNvPr id="272" name="Google Shape;272;p19"/>
          <p:cNvCxnSpPr/>
          <p:nvPr/>
        </p:nvCxnSpPr>
        <p:spPr>
          <a:xfrm>
            <a:off x="6629400" y="4487862"/>
            <a:ext cx="685800" cy="1587"/>
          </a:xfrm>
          <a:prstGeom prst="straightConnector1">
            <a:avLst/>
          </a:prstGeom>
          <a:noFill/>
          <a:ln cap="sq" cmpd="sng" w="9525">
            <a:solidFill>
              <a:srgbClr val="000000"/>
            </a:solidFill>
            <a:prstDash val="solid"/>
            <a:miter lim="800000"/>
            <a:headEnd len="med" w="med" type="none"/>
            <a:tailEnd len="med" w="med" type="triangle"/>
          </a:ln>
        </p:spPr>
      </p:cxnSp>
      <p:sp>
        <p:nvSpPr>
          <p:cNvPr id="273" name="Google Shape;273;p19"/>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20"/>
          <p:cNvSpPr txBox="1"/>
          <p:nvPr/>
        </p:nvSpPr>
        <p:spPr>
          <a:xfrm>
            <a:off x="503237" y="346075"/>
            <a:ext cx="9070975" cy="568325"/>
          </a:xfrm>
          <a:prstGeom prst="rect">
            <a:avLst/>
          </a:prstGeom>
          <a:noFill/>
          <a:ln>
            <a:noFill/>
          </a:ln>
        </p:spPr>
        <p:txBody>
          <a:bodyPr anchorCtr="0" anchor="ctr" bIns="0" lIns="0" spcFirstLastPara="1" rIns="0" wrap="square" tIns="38875">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Applying ES2 to Cash-flow Forecast </a:t>
            </a:r>
            <a:endParaRPr/>
          </a:p>
        </p:txBody>
      </p:sp>
      <p:graphicFrame>
        <p:nvGraphicFramePr>
          <p:cNvPr id="280" name="Google Shape;280;p20"/>
          <p:cNvGraphicFramePr/>
          <p:nvPr/>
        </p:nvGraphicFramePr>
        <p:xfrm>
          <a:off x="593725" y="1143000"/>
          <a:ext cx="8148637" cy="1897062"/>
        </p:xfrm>
        <a:graphic>
          <a:graphicData uri="http://schemas.openxmlformats.org/presentationml/2006/ole">
            <mc:AlternateContent>
              <mc:Choice Requires="v">
                <p:oleObj r:id="rId4" imgH="1897062" imgW="8148637" spid="_x0000_s1">
                  <p:embed/>
                </p:oleObj>
              </mc:Choice>
              <mc:Fallback>
                <p:oleObj r:id="rId5" imgH="1897062" imgW="8148637">
                  <p:embed/>
                  <p:pic>
                    <p:nvPicPr>
                      <p:cNvPr id="280" name="Google Shape;280;p20"/>
                      <p:cNvPicPr preferRelativeResize="0"/>
                      <p:nvPr/>
                    </p:nvPicPr>
                    <p:blipFill rotWithShape="1">
                      <a:blip r:embed="rId6">
                        <a:alphaModFix/>
                      </a:blip>
                      <a:srcRect b="0" l="0" r="0" t="0"/>
                      <a:stretch/>
                    </p:blipFill>
                    <p:spPr>
                      <a:xfrm>
                        <a:off x="593725" y="1143000"/>
                        <a:ext cx="8148637" cy="1897062"/>
                      </a:xfrm>
                      <a:prstGeom prst="rect">
                        <a:avLst/>
                      </a:prstGeom>
                      <a:noFill/>
                      <a:ln>
                        <a:noFill/>
                      </a:ln>
                    </p:spPr>
                  </p:pic>
                </p:oleObj>
              </mc:Fallback>
            </mc:AlternateContent>
          </a:graphicData>
        </a:graphic>
      </p:graphicFrame>
      <p:sp>
        <p:nvSpPr>
          <p:cNvPr id="281" name="Google Shape;281;p20"/>
          <p:cNvSpPr txBox="1"/>
          <p:nvPr/>
        </p:nvSpPr>
        <p:spPr>
          <a:xfrm>
            <a:off x="627062" y="3433762"/>
            <a:ext cx="8686800" cy="3165475"/>
          </a:xfrm>
          <a:prstGeom prst="rect">
            <a:avLst/>
          </a:prstGeom>
          <a:noFill/>
          <a:ln>
            <a:noFill/>
          </a:ln>
        </p:spPr>
        <p:txBody>
          <a:bodyPr anchorCtr="0" anchor="t" bIns="45000" lIns="90000" spcFirstLastPara="1" rIns="90000" wrap="square" tIns="60825">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ES2 allows us to run several forecasting models simultaneously to produce multiple forecasts. The final result is a weighted average of the forecasts, calculated using different models.</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the end of the month ES2 will get a factual value for the Cash flow: </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 $1076.27 * 1000</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To equate forecast to the factual cash flow value, ES2 will correct weights for each model. Correction can be performed using a simple criteria that makes minimal total changes in the weight coefficients, assigned for each model. </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On the next slide we can see the corrected coefficients.     </a:t>
            </a:r>
            <a:endParaRPr/>
          </a:p>
        </p:txBody>
      </p:sp>
      <p:sp>
        <p:nvSpPr>
          <p:cNvPr id="282" name="Google Shape;282;p20"/>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21"/>
          <p:cNvSpPr txBox="1"/>
          <p:nvPr/>
        </p:nvSpPr>
        <p:spPr>
          <a:xfrm>
            <a:off x="503237" y="346075"/>
            <a:ext cx="9070975" cy="568325"/>
          </a:xfrm>
          <a:prstGeom prst="rect">
            <a:avLst/>
          </a:prstGeom>
          <a:noFill/>
          <a:ln>
            <a:noFill/>
          </a:ln>
        </p:spPr>
        <p:txBody>
          <a:bodyPr anchorCtr="0" anchor="ctr" bIns="0" lIns="0" spcFirstLastPara="1" rIns="0" wrap="square" tIns="38875">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Applying ES2 to Cash-flow Forecast </a:t>
            </a:r>
            <a:endParaRPr/>
          </a:p>
        </p:txBody>
      </p:sp>
      <p:graphicFrame>
        <p:nvGraphicFramePr>
          <p:cNvPr id="289" name="Google Shape;289;p21"/>
          <p:cNvGraphicFramePr/>
          <p:nvPr/>
        </p:nvGraphicFramePr>
        <p:xfrm>
          <a:off x="593725" y="1790700"/>
          <a:ext cx="8153400" cy="1897062"/>
        </p:xfrm>
        <a:graphic>
          <a:graphicData uri="http://schemas.openxmlformats.org/presentationml/2006/ole">
            <mc:AlternateContent>
              <mc:Choice Requires="v">
                <p:oleObj r:id="rId4" imgH="1897062" imgW="8153400" spid="_x0000_s1">
                  <p:embed/>
                </p:oleObj>
              </mc:Choice>
              <mc:Fallback>
                <p:oleObj r:id="rId5" imgH="1897062" imgW="8153400">
                  <p:embed/>
                  <p:pic>
                    <p:nvPicPr>
                      <p:cNvPr id="289" name="Google Shape;289;p21"/>
                      <p:cNvPicPr preferRelativeResize="0"/>
                      <p:nvPr/>
                    </p:nvPicPr>
                    <p:blipFill rotWithShape="1">
                      <a:blip r:embed="rId6">
                        <a:alphaModFix/>
                      </a:blip>
                      <a:srcRect b="0" l="0" r="0" t="0"/>
                      <a:stretch/>
                    </p:blipFill>
                    <p:spPr>
                      <a:xfrm>
                        <a:off x="593725" y="1790700"/>
                        <a:ext cx="8153400" cy="1897062"/>
                      </a:xfrm>
                      <a:prstGeom prst="rect">
                        <a:avLst/>
                      </a:prstGeom>
                      <a:noFill/>
                      <a:ln>
                        <a:noFill/>
                      </a:ln>
                    </p:spPr>
                  </p:pic>
                </p:oleObj>
              </mc:Fallback>
            </mc:AlternateContent>
          </a:graphicData>
        </a:graphic>
      </p:graphicFrame>
      <p:sp>
        <p:nvSpPr>
          <p:cNvPr id="290" name="Google Shape;290;p21"/>
          <p:cNvSpPr txBox="1"/>
          <p:nvPr/>
        </p:nvSpPr>
        <p:spPr>
          <a:xfrm>
            <a:off x="627062" y="4343400"/>
            <a:ext cx="8802687" cy="1116012"/>
          </a:xfrm>
          <a:prstGeom prst="rect">
            <a:avLst/>
          </a:prstGeom>
          <a:noFill/>
          <a:ln>
            <a:noFill/>
          </a:ln>
        </p:spPr>
        <p:txBody>
          <a:bodyPr anchorCtr="0" anchor="t" bIns="45000" lIns="90000" spcFirstLastPara="1" rIns="90000" wrap="square" tIns="60825">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ES2 uses the same models to make forecast for the next month and then calculates the final result as a weighted average, using corrected coefficients.</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The result of these calculations is on the next slide. </a:t>
            </a:r>
            <a:endParaRPr/>
          </a:p>
        </p:txBody>
      </p:sp>
      <p:sp>
        <p:nvSpPr>
          <p:cNvPr id="291" name="Google Shape;291;p21"/>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22"/>
          <p:cNvSpPr txBox="1"/>
          <p:nvPr/>
        </p:nvSpPr>
        <p:spPr>
          <a:xfrm>
            <a:off x="503237" y="346075"/>
            <a:ext cx="9070975" cy="568325"/>
          </a:xfrm>
          <a:prstGeom prst="rect">
            <a:avLst/>
          </a:prstGeom>
          <a:noFill/>
          <a:ln>
            <a:noFill/>
          </a:ln>
        </p:spPr>
        <p:txBody>
          <a:bodyPr anchorCtr="0" anchor="ctr" bIns="0" lIns="0" spcFirstLastPara="1" rIns="0" wrap="square" tIns="38875">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Applying ES2 to Cash-flow Forecast </a:t>
            </a:r>
            <a:endParaRPr/>
          </a:p>
        </p:txBody>
      </p:sp>
      <p:graphicFrame>
        <p:nvGraphicFramePr>
          <p:cNvPr id="298" name="Google Shape;298;p22"/>
          <p:cNvGraphicFramePr/>
          <p:nvPr/>
        </p:nvGraphicFramePr>
        <p:xfrm>
          <a:off x="881062" y="1466850"/>
          <a:ext cx="8148637" cy="1897062"/>
        </p:xfrm>
        <a:graphic>
          <a:graphicData uri="http://schemas.openxmlformats.org/presentationml/2006/ole">
            <mc:AlternateContent>
              <mc:Choice Requires="v">
                <p:oleObj r:id="rId4" imgH="1897062" imgW="8148637" spid="_x0000_s1">
                  <p:embed/>
                </p:oleObj>
              </mc:Choice>
              <mc:Fallback>
                <p:oleObj r:id="rId5" imgH="1897062" imgW="8148637">
                  <p:embed/>
                  <p:pic>
                    <p:nvPicPr>
                      <p:cNvPr id="298" name="Google Shape;298;p22"/>
                      <p:cNvPicPr preferRelativeResize="0"/>
                      <p:nvPr/>
                    </p:nvPicPr>
                    <p:blipFill rotWithShape="1">
                      <a:blip r:embed="rId6">
                        <a:alphaModFix/>
                      </a:blip>
                      <a:srcRect b="0" l="0" r="0" t="0"/>
                      <a:stretch/>
                    </p:blipFill>
                    <p:spPr>
                      <a:xfrm>
                        <a:off x="881062" y="1466850"/>
                        <a:ext cx="8148637" cy="1897062"/>
                      </a:xfrm>
                      <a:prstGeom prst="rect">
                        <a:avLst/>
                      </a:prstGeom>
                      <a:noFill/>
                      <a:ln>
                        <a:noFill/>
                      </a:ln>
                    </p:spPr>
                  </p:pic>
                </p:oleObj>
              </mc:Fallback>
            </mc:AlternateContent>
          </a:graphicData>
        </a:graphic>
      </p:graphicFrame>
      <p:sp>
        <p:nvSpPr>
          <p:cNvPr id="299" name="Google Shape;299;p22"/>
          <p:cNvSpPr txBox="1"/>
          <p:nvPr/>
        </p:nvSpPr>
        <p:spPr>
          <a:xfrm>
            <a:off x="914400" y="3790950"/>
            <a:ext cx="8001000" cy="2397125"/>
          </a:xfrm>
          <a:prstGeom prst="rect">
            <a:avLst/>
          </a:prstGeom>
          <a:noFill/>
          <a:ln>
            <a:noFill/>
          </a:ln>
        </p:spPr>
        <p:txBody>
          <a:bodyPr anchorCtr="0" anchor="t" bIns="45000" lIns="90000" spcFirstLastPara="1" rIns="90000" wrap="square" tIns="60825">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As soon as ES2 receives the new factual cash flow data, it can recalibrates forecasting models by correcting weight coefficients for each one. After that ES2 can calculate cash flow forecast for the next month. </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ES2 performs this kind of processing automatically, every time a new factual cash flow value is available. Factual data fires an event that initiates a new forecast calculations cycle.</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On next slide we can see cash flow forecast for three months. </a:t>
            </a:r>
            <a:endParaRPr/>
          </a:p>
        </p:txBody>
      </p:sp>
      <p:sp>
        <p:nvSpPr>
          <p:cNvPr id="300" name="Google Shape;300;p22"/>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23"/>
          <p:cNvSpPr txBox="1"/>
          <p:nvPr/>
        </p:nvSpPr>
        <p:spPr>
          <a:xfrm>
            <a:off x="503237" y="346075"/>
            <a:ext cx="9070975" cy="568325"/>
          </a:xfrm>
          <a:prstGeom prst="rect">
            <a:avLst/>
          </a:prstGeom>
          <a:noFill/>
          <a:ln>
            <a:noFill/>
          </a:ln>
        </p:spPr>
        <p:txBody>
          <a:bodyPr anchorCtr="0" anchor="ctr" bIns="0" lIns="0" spcFirstLastPara="1" rIns="0" wrap="square" tIns="38875">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Applying ES2 to Cash-flow Forecast. Final result </a:t>
            </a:r>
            <a:endParaRPr/>
          </a:p>
        </p:txBody>
      </p:sp>
      <p:graphicFrame>
        <p:nvGraphicFramePr>
          <p:cNvPr id="307" name="Google Shape;307;p23"/>
          <p:cNvGraphicFramePr/>
          <p:nvPr/>
        </p:nvGraphicFramePr>
        <p:xfrm>
          <a:off x="665162" y="1790700"/>
          <a:ext cx="8159750" cy="2092325"/>
        </p:xfrm>
        <a:graphic>
          <a:graphicData uri="http://schemas.openxmlformats.org/presentationml/2006/ole">
            <mc:AlternateContent>
              <mc:Choice Requires="v">
                <p:oleObj r:id="rId4" imgH="2092325" imgW="8159750" spid="_x0000_s1">
                  <p:embed/>
                </p:oleObj>
              </mc:Choice>
              <mc:Fallback>
                <p:oleObj r:id="rId5" imgH="2092325" imgW="8159750">
                  <p:embed/>
                  <p:pic>
                    <p:nvPicPr>
                      <p:cNvPr id="307" name="Google Shape;307;p23"/>
                      <p:cNvPicPr preferRelativeResize="0"/>
                      <p:nvPr/>
                    </p:nvPicPr>
                    <p:blipFill rotWithShape="1">
                      <a:blip r:embed="rId6">
                        <a:alphaModFix/>
                      </a:blip>
                      <a:srcRect b="0" l="0" r="0" t="0"/>
                      <a:stretch/>
                    </p:blipFill>
                    <p:spPr>
                      <a:xfrm>
                        <a:off x="665162" y="1790700"/>
                        <a:ext cx="8159750" cy="2092325"/>
                      </a:xfrm>
                      <a:prstGeom prst="rect">
                        <a:avLst/>
                      </a:prstGeom>
                      <a:noFill/>
                      <a:ln>
                        <a:noFill/>
                      </a:ln>
                    </p:spPr>
                  </p:pic>
                </p:oleObj>
              </mc:Fallback>
            </mc:AlternateContent>
          </a:graphicData>
        </a:graphic>
      </p:graphicFrame>
      <p:sp>
        <p:nvSpPr>
          <p:cNvPr id="308" name="Google Shape;308;p23"/>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4"/>
          <p:cNvSpPr txBox="1"/>
          <p:nvPr/>
        </p:nvSpPr>
        <p:spPr>
          <a:xfrm>
            <a:off x="503237" y="319087"/>
            <a:ext cx="9067800" cy="793750"/>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Continuous. Concurrent. Interactive. Predictive. Adaptive. Consistent. Real-time. </a:t>
            </a:r>
            <a:endParaRPr/>
          </a:p>
        </p:txBody>
      </p:sp>
      <p:sp>
        <p:nvSpPr>
          <p:cNvPr id="315" name="Google Shape;315;p24"/>
          <p:cNvSpPr/>
          <p:nvPr/>
        </p:nvSpPr>
        <p:spPr>
          <a:xfrm>
            <a:off x="1503362" y="1516062"/>
            <a:ext cx="1143000" cy="685800"/>
          </a:xfrm>
          <a:prstGeom prst="roundRect">
            <a:avLst>
              <a:gd fmla="val 3600" name="adj"/>
            </a:avLst>
          </a:prstGeom>
          <a:solidFill>
            <a:srgbClr val="99CCFF"/>
          </a:solidFill>
          <a:ln cap="sq" cmpd="sng" w="36700">
            <a:solidFill>
              <a:srgbClr val="000080"/>
            </a:solidFill>
            <a:prstDash val="solid"/>
            <a:miter lim="800000"/>
            <a:headEnd len="sm" w="sm" type="none"/>
            <a:tailEnd len="sm" w="sm" type="none"/>
          </a:ln>
        </p:spPr>
        <p:txBody>
          <a:bodyPr anchorCtr="0" anchor="ctr" bIns="63000" lIns="108000" spcFirstLastPara="1" rIns="108000" wrap="square" tIns="6300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Analyze</a:t>
            </a:r>
            <a:endParaRPr/>
          </a:p>
        </p:txBody>
      </p:sp>
      <p:sp>
        <p:nvSpPr>
          <p:cNvPr id="316" name="Google Shape;316;p24"/>
          <p:cNvSpPr/>
          <p:nvPr/>
        </p:nvSpPr>
        <p:spPr>
          <a:xfrm>
            <a:off x="603250" y="2668587"/>
            <a:ext cx="1143000" cy="685800"/>
          </a:xfrm>
          <a:prstGeom prst="roundRect">
            <a:avLst>
              <a:gd fmla="val 3600" name="adj"/>
            </a:avLst>
          </a:prstGeom>
          <a:solidFill>
            <a:srgbClr val="99CCFF"/>
          </a:solidFill>
          <a:ln cap="sq" cmpd="sng" w="36700">
            <a:solidFill>
              <a:srgbClr val="000080"/>
            </a:solidFill>
            <a:prstDash val="solid"/>
            <a:miter lim="800000"/>
            <a:headEnd len="sm" w="sm" type="none"/>
            <a:tailEnd len="sm" w="sm" type="none"/>
          </a:ln>
        </p:spPr>
        <p:txBody>
          <a:bodyPr anchorCtr="0" anchor="ctr" bIns="63000" lIns="108000" spcFirstLastPara="1" rIns="108000" wrap="square" tIns="6300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Monitor</a:t>
            </a:r>
            <a:endParaRPr/>
          </a:p>
        </p:txBody>
      </p:sp>
      <p:sp>
        <p:nvSpPr>
          <p:cNvPr id="317" name="Google Shape;317;p24"/>
          <p:cNvSpPr/>
          <p:nvPr/>
        </p:nvSpPr>
        <p:spPr>
          <a:xfrm>
            <a:off x="2439987" y="2668587"/>
            <a:ext cx="1143000" cy="685800"/>
          </a:xfrm>
          <a:prstGeom prst="roundRect">
            <a:avLst>
              <a:gd fmla="val 3600" name="adj"/>
            </a:avLst>
          </a:prstGeom>
          <a:solidFill>
            <a:srgbClr val="99CCFF"/>
          </a:solidFill>
          <a:ln cap="sq" cmpd="sng" w="36700">
            <a:solidFill>
              <a:srgbClr val="000080"/>
            </a:solidFill>
            <a:prstDash val="solid"/>
            <a:miter lim="800000"/>
            <a:headEnd len="sm" w="sm" type="none"/>
            <a:tailEnd len="sm" w="sm" type="none"/>
          </a:ln>
        </p:spPr>
        <p:txBody>
          <a:bodyPr anchorCtr="0" anchor="ctr" bIns="63000" lIns="108000" spcFirstLastPara="1" rIns="108000" wrap="square" tIns="6300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Optimize</a:t>
            </a:r>
            <a:endParaRPr/>
          </a:p>
        </p:txBody>
      </p:sp>
      <p:cxnSp>
        <p:nvCxnSpPr>
          <p:cNvPr id="318" name="Google Shape;318;p24"/>
          <p:cNvCxnSpPr/>
          <p:nvPr/>
        </p:nvCxnSpPr>
        <p:spPr>
          <a:xfrm flipH="1" rot="10800000">
            <a:off x="1143000" y="2197100"/>
            <a:ext cx="914400" cy="466725"/>
          </a:xfrm>
          <a:prstGeom prst="straightConnector1">
            <a:avLst/>
          </a:prstGeom>
          <a:noFill/>
          <a:ln cap="sq" cmpd="sng" w="54700">
            <a:solidFill>
              <a:srgbClr val="800080"/>
            </a:solidFill>
            <a:prstDash val="solid"/>
            <a:miter lim="800000"/>
            <a:headEnd len="med" w="med" type="none"/>
            <a:tailEnd len="med" w="med" type="triangle"/>
          </a:ln>
        </p:spPr>
      </p:cxnSp>
      <p:cxnSp>
        <p:nvCxnSpPr>
          <p:cNvPr id="319" name="Google Shape;319;p24"/>
          <p:cNvCxnSpPr/>
          <p:nvPr/>
        </p:nvCxnSpPr>
        <p:spPr>
          <a:xfrm>
            <a:off x="2093912" y="2201862"/>
            <a:ext cx="914400" cy="457200"/>
          </a:xfrm>
          <a:prstGeom prst="straightConnector1">
            <a:avLst/>
          </a:prstGeom>
          <a:noFill/>
          <a:ln cap="sq" cmpd="sng" w="54700">
            <a:solidFill>
              <a:srgbClr val="800080"/>
            </a:solidFill>
            <a:prstDash val="solid"/>
            <a:miter lim="800000"/>
            <a:headEnd len="med" w="med" type="none"/>
            <a:tailEnd len="med" w="med" type="triangle"/>
          </a:ln>
        </p:spPr>
      </p:cxnSp>
      <p:cxnSp>
        <p:nvCxnSpPr>
          <p:cNvPr id="320" name="Google Shape;320;p24"/>
          <p:cNvCxnSpPr/>
          <p:nvPr/>
        </p:nvCxnSpPr>
        <p:spPr>
          <a:xfrm flipH="1">
            <a:off x="1752600" y="3043237"/>
            <a:ext cx="695325" cy="1587"/>
          </a:xfrm>
          <a:prstGeom prst="straightConnector1">
            <a:avLst/>
          </a:prstGeom>
          <a:noFill/>
          <a:ln cap="sq" cmpd="sng" w="54700">
            <a:solidFill>
              <a:srgbClr val="800080"/>
            </a:solidFill>
            <a:prstDash val="solid"/>
            <a:miter lim="800000"/>
            <a:headEnd len="med" w="med" type="none"/>
            <a:tailEnd len="med" w="med" type="triangle"/>
          </a:ln>
        </p:spPr>
      </p:cxnSp>
      <p:sp>
        <p:nvSpPr>
          <p:cNvPr id="321" name="Google Shape;321;p24"/>
          <p:cNvSpPr/>
          <p:nvPr/>
        </p:nvSpPr>
        <p:spPr>
          <a:xfrm>
            <a:off x="1503362" y="4432300"/>
            <a:ext cx="1143000" cy="685800"/>
          </a:xfrm>
          <a:prstGeom prst="roundRect">
            <a:avLst>
              <a:gd fmla="val 3600" name="adj"/>
            </a:avLst>
          </a:prstGeom>
          <a:solidFill>
            <a:srgbClr val="FF9966"/>
          </a:solidFill>
          <a:ln cap="sq" cmpd="sng" w="36700">
            <a:solidFill>
              <a:srgbClr val="000080"/>
            </a:solidFill>
            <a:prstDash val="solid"/>
            <a:miter lim="800000"/>
            <a:headEnd len="sm" w="sm" type="none"/>
            <a:tailEnd len="sm" w="sm" type="none"/>
          </a:ln>
        </p:spPr>
        <p:txBody>
          <a:bodyPr anchorCtr="0" anchor="ctr" bIns="63000" lIns="108000" spcFirstLastPara="1" rIns="108000" wrap="square" tIns="6300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Analyze</a:t>
            </a:r>
            <a:endParaRPr/>
          </a:p>
        </p:txBody>
      </p:sp>
      <p:sp>
        <p:nvSpPr>
          <p:cNvPr id="322" name="Google Shape;322;p24"/>
          <p:cNvSpPr/>
          <p:nvPr/>
        </p:nvSpPr>
        <p:spPr>
          <a:xfrm>
            <a:off x="603250" y="5584825"/>
            <a:ext cx="1143000" cy="685800"/>
          </a:xfrm>
          <a:prstGeom prst="roundRect">
            <a:avLst>
              <a:gd fmla="val 3600" name="adj"/>
            </a:avLst>
          </a:prstGeom>
          <a:solidFill>
            <a:srgbClr val="FF9966"/>
          </a:solidFill>
          <a:ln cap="sq" cmpd="sng" w="36700">
            <a:solidFill>
              <a:srgbClr val="000080"/>
            </a:solidFill>
            <a:prstDash val="solid"/>
            <a:miter lim="800000"/>
            <a:headEnd len="sm" w="sm" type="none"/>
            <a:tailEnd len="sm" w="sm" type="none"/>
          </a:ln>
        </p:spPr>
        <p:txBody>
          <a:bodyPr anchorCtr="0" anchor="ctr" bIns="63000" lIns="108000" spcFirstLastPara="1" rIns="108000" wrap="square" tIns="6300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Monitor</a:t>
            </a:r>
            <a:endParaRPr/>
          </a:p>
        </p:txBody>
      </p:sp>
      <p:sp>
        <p:nvSpPr>
          <p:cNvPr id="323" name="Google Shape;323;p24"/>
          <p:cNvSpPr/>
          <p:nvPr/>
        </p:nvSpPr>
        <p:spPr>
          <a:xfrm>
            <a:off x="2439987" y="5584825"/>
            <a:ext cx="1143000" cy="685800"/>
          </a:xfrm>
          <a:prstGeom prst="roundRect">
            <a:avLst>
              <a:gd fmla="val 3600" name="adj"/>
            </a:avLst>
          </a:prstGeom>
          <a:solidFill>
            <a:srgbClr val="FF9966"/>
          </a:solidFill>
          <a:ln cap="sq" cmpd="sng" w="36700">
            <a:solidFill>
              <a:srgbClr val="000080"/>
            </a:solidFill>
            <a:prstDash val="solid"/>
            <a:miter lim="800000"/>
            <a:headEnd len="sm" w="sm" type="none"/>
            <a:tailEnd len="sm" w="sm" type="none"/>
          </a:ln>
        </p:spPr>
        <p:txBody>
          <a:bodyPr anchorCtr="0" anchor="ctr" bIns="63000" lIns="108000" spcFirstLastPara="1" rIns="108000" wrap="square" tIns="6300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Optimize</a:t>
            </a:r>
            <a:endParaRPr/>
          </a:p>
        </p:txBody>
      </p:sp>
      <p:cxnSp>
        <p:nvCxnSpPr>
          <p:cNvPr id="324" name="Google Shape;324;p24"/>
          <p:cNvCxnSpPr/>
          <p:nvPr/>
        </p:nvCxnSpPr>
        <p:spPr>
          <a:xfrm flipH="1" rot="10800000">
            <a:off x="1143000" y="5113337"/>
            <a:ext cx="914400" cy="466725"/>
          </a:xfrm>
          <a:prstGeom prst="straightConnector1">
            <a:avLst/>
          </a:prstGeom>
          <a:noFill/>
          <a:ln cap="sq" cmpd="sng" w="54700">
            <a:solidFill>
              <a:srgbClr val="800080"/>
            </a:solidFill>
            <a:prstDash val="solid"/>
            <a:miter lim="800000"/>
            <a:headEnd len="med" w="med" type="none"/>
            <a:tailEnd len="med" w="med" type="triangle"/>
          </a:ln>
        </p:spPr>
      </p:cxnSp>
      <p:cxnSp>
        <p:nvCxnSpPr>
          <p:cNvPr id="325" name="Google Shape;325;p24"/>
          <p:cNvCxnSpPr/>
          <p:nvPr/>
        </p:nvCxnSpPr>
        <p:spPr>
          <a:xfrm>
            <a:off x="2093912" y="5118100"/>
            <a:ext cx="914400" cy="457200"/>
          </a:xfrm>
          <a:prstGeom prst="straightConnector1">
            <a:avLst/>
          </a:prstGeom>
          <a:noFill/>
          <a:ln cap="sq" cmpd="sng" w="54700">
            <a:solidFill>
              <a:srgbClr val="800080"/>
            </a:solidFill>
            <a:prstDash val="solid"/>
            <a:miter lim="800000"/>
            <a:headEnd len="med" w="med" type="none"/>
            <a:tailEnd len="med" w="med" type="triangle"/>
          </a:ln>
        </p:spPr>
      </p:cxnSp>
      <p:cxnSp>
        <p:nvCxnSpPr>
          <p:cNvPr id="326" name="Google Shape;326;p24"/>
          <p:cNvCxnSpPr/>
          <p:nvPr/>
        </p:nvCxnSpPr>
        <p:spPr>
          <a:xfrm flipH="1">
            <a:off x="1752600" y="5959475"/>
            <a:ext cx="695325" cy="1587"/>
          </a:xfrm>
          <a:prstGeom prst="straightConnector1">
            <a:avLst/>
          </a:prstGeom>
          <a:noFill/>
          <a:ln cap="sq" cmpd="sng" w="54700">
            <a:solidFill>
              <a:srgbClr val="800080"/>
            </a:solidFill>
            <a:prstDash val="solid"/>
            <a:miter lim="800000"/>
            <a:headEnd len="med" w="med" type="none"/>
            <a:tailEnd len="med" w="med" type="triangle"/>
          </a:ln>
        </p:spPr>
      </p:cxnSp>
      <p:cxnSp>
        <p:nvCxnSpPr>
          <p:cNvPr id="327" name="Google Shape;327;p24"/>
          <p:cNvCxnSpPr/>
          <p:nvPr/>
        </p:nvCxnSpPr>
        <p:spPr>
          <a:xfrm>
            <a:off x="685800" y="3886200"/>
            <a:ext cx="8686800" cy="1587"/>
          </a:xfrm>
          <a:prstGeom prst="straightConnector1">
            <a:avLst/>
          </a:prstGeom>
          <a:noFill/>
          <a:ln cap="sq" cmpd="sng" w="54700">
            <a:solidFill>
              <a:srgbClr val="000000"/>
            </a:solidFill>
            <a:prstDash val="solid"/>
            <a:miter lim="800000"/>
            <a:headEnd len="med" w="med" type="none"/>
            <a:tailEnd len="med" w="med" type="none"/>
          </a:ln>
        </p:spPr>
      </p:cxnSp>
      <p:sp>
        <p:nvSpPr>
          <p:cNvPr id="328" name="Google Shape;328;p24"/>
          <p:cNvSpPr txBox="1"/>
          <p:nvPr/>
        </p:nvSpPr>
        <p:spPr>
          <a:xfrm>
            <a:off x="3883025" y="1371600"/>
            <a:ext cx="5489575" cy="212883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Applications built on iSaaS and iOaaS, perform continuous monitoring and real-time analysis. Results of analysis can be used to predict future behavior of the system. Changes in system’s behavior patterns can trigger a decision making process based on Octopus optimization models, provided by iOaaS. This will complete adaptation loop.</a:t>
            </a:r>
            <a:endParaRPr/>
          </a:p>
        </p:txBody>
      </p:sp>
      <p:sp>
        <p:nvSpPr>
          <p:cNvPr id="329" name="Google Shape;329;p24"/>
          <p:cNvSpPr txBox="1"/>
          <p:nvPr/>
        </p:nvSpPr>
        <p:spPr>
          <a:xfrm>
            <a:off x="3883025" y="4359275"/>
            <a:ext cx="5489575" cy="187483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The same approach to monitoring and analysis can be applied to managing cloud environment, used to run user applications. Octopus models from iSaaS and iOaaS enable optimization of Cloud environment configuration in real time. iNaaS models deliver optimal decisions for scaling underlying cloud resources in and out.    </a:t>
            </a:r>
            <a:endParaRPr/>
          </a:p>
        </p:txBody>
      </p:sp>
      <p:sp>
        <p:nvSpPr>
          <p:cNvPr id="330" name="Google Shape;330;p24"/>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25"/>
          <p:cNvSpPr txBox="1"/>
          <p:nvPr/>
        </p:nvSpPr>
        <p:spPr>
          <a:xfrm>
            <a:off x="503237" y="301625"/>
            <a:ext cx="9064625" cy="612775"/>
          </a:xfrm>
          <a:prstGeom prst="rect">
            <a:avLst/>
          </a:prstGeom>
          <a:noFill/>
          <a:ln>
            <a:noFill/>
          </a:ln>
        </p:spPr>
        <p:txBody>
          <a:bodyPr anchorCtr="0" anchor="ctr" bIns="0" lIns="0" spcFirstLastPara="1" rIns="0" wrap="square" tIns="0">
            <a:noAutofit/>
          </a:bodyPr>
          <a:lstStyle/>
          <a:p>
            <a:pPr indent="0" lvl="0" marL="0" marR="0" rtl="0" algn="ctr">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Application life cycle, provided by iNaaS</a:t>
            </a:r>
            <a:endParaRPr/>
          </a:p>
        </p:txBody>
      </p:sp>
      <p:sp>
        <p:nvSpPr>
          <p:cNvPr id="337" name="Google Shape;337;p25"/>
          <p:cNvSpPr/>
          <p:nvPr/>
        </p:nvSpPr>
        <p:spPr>
          <a:xfrm>
            <a:off x="457200" y="1312862"/>
            <a:ext cx="3429000" cy="444500"/>
          </a:xfrm>
          <a:prstGeom prst="roundRect">
            <a:avLst>
              <a:gd fmla="val 77"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External IP address:</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octopusserver.lisa-park.ru:8080 </a:t>
            </a:r>
            <a:endParaRPr/>
          </a:p>
        </p:txBody>
      </p:sp>
      <p:sp>
        <p:nvSpPr>
          <p:cNvPr id="338" name="Google Shape;338;p25"/>
          <p:cNvSpPr/>
          <p:nvPr/>
        </p:nvSpPr>
        <p:spPr>
          <a:xfrm>
            <a:off x="4800600" y="1312862"/>
            <a:ext cx="3200400" cy="444500"/>
          </a:xfrm>
          <a:prstGeom prst="roundRect">
            <a:avLst>
              <a:gd fmla="val 77" name="adj"/>
            </a:avLst>
          </a:prstGeom>
          <a:solidFill>
            <a:srgbClr val="99CCFF"/>
          </a:solid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DNA reference</a:t>
            </a:r>
            <a:endParaRPr/>
          </a:p>
        </p:txBody>
      </p:sp>
      <p:sp>
        <p:nvSpPr>
          <p:cNvPr id="339" name="Google Shape;339;p25"/>
          <p:cNvSpPr/>
          <p:nvPr/>
        </p:nvSpPr>
        <p:spPr>
          <a:xfrm>
            <a:off x="1600200" y="2443162"/>
            <a:ext cx="1598612" cy="374650"/>
          </a:xfrm>
          <a:prstGeom prst="roundRect">
            <a:avLst>
              <a:gd fmla="val 91" name="adj"/>
            </a:avLst>
          </a:prstGeom>
          <a:no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192.68.0.61:8080</a:t>
            </a:r>
            <a:endParaRPr/>
          </a:p>
        </p:txBody>
      </p:sp>
      <p:sp>
        <p:nvSpPr>
          <p:cNvPr id="340" name="Google Shape;340;p25"/>
          <p:cNvSpPr txBox="1"/>
          <p:nvPr/>
        </p:nvSpPr>
        <p:spPr>
          <a:xfrm>
            <a:off x="457200" y="1793875"/>
            <a:ext cx="1920875"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Internal IP addresses:</a:t>
            </a:r>
            <a:endParaRPr/>
          </a:p>
        </p:txBody>
      </p:sp>
      <p:sp>
        <p:nvSpPr>
          <p:cNvPr id="341" name="Google Shape;341;p25"/>
          <p:cNvSpPr txBox="1"/>
          <p:nvPr/>
        </p:nvSpPr>
        <p:spPr>
          <a:xfrm>
            <a:off x="452437" y="2197100"/>
            <a:ext cx="985837"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Version 1.</a:t>
            </a:r>
            <a:endParaRPr/>
          </a:p>
        </p:txBody>
      </p:sp>
      <p:sp>
        <p:nvSpPr>
          <p:cNvPr id="342" name="Google Shape;342;p25"/>
          <p:cNvSpPr txBox="1"/>
          <p:nvPr/>
        </p:nvSpPr>
        <p:spPr>
          <a:xfrm>
            <a:off x="457200" y="2479675"/>
            <a:ext cx="693737"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PROD</a:t>
            </a:r>
            <a:endParaRPr/>
          </a:p>
        </p:txBody>
      </p:sp>
      <p:cxnSp>
        <p:nvCxnSpPr>
          <p:cNvPr id="343" name="Google Shape;343;p25"/>
          <p:cNvCxnSpPr/>
          <p:nvPr/>
        </p:nvCxnSpPr>
        <p:spPr>
          <a:xfrm>
            <a:off x="457200" y="3370262"/>
            <a:ext cx="9144000" cy="1587"/>
          </a:xfrm>
          <a:prstGeom prst="straightConnector1">
            <a:avLst/>
          </a:prstGeom>
          <a:noFill/>
          <a:ln cap="sq" cmpd="sng" w="36700">
            <a:solidFill>
              <a:srgbClr val="000000"/>
            </a:solidFill>
            <a:prstDash val="solid"/>
            <a:miter lim="800000"/>
            <a:headEnd len="med" w="med" type="none"/>
            <a:tailEnd len="med" w="med" type="none"/>
          </a:ln>
        </p:spPr>
      </p:cxnSp>
      <p:cxnSp>
        <p:nvCxnSpPr>
          <p:cNvPr id="344" name="Google Shape;344;p25"/>
          <p:cNvCxnSpPr/>
          <p:nvPr/>
        </p:nvCxnSpPr>
        <p:spPr>
          <a:xfrm>
            <a:off x="457200" y="5026025"/>
            <a:ext cx="9144000" cy="1587"/>
          </a:xfrm>
          <a:prstGeom prst="straightConnector1">
            <a:avLst/>
          </a:prstGeom>
          <a:noFill/>
          <a:ln cap="sq" cmpd="sng" w="36700">
            <a:solidFill>
              <a:srgbClr val="000000"/>
            </a:solidFill>
            <a:prstDash val="solid"/>
            <a:miter lim="800000"/>
            <a:headEnd len="med" w="med" type="none"/>
            <a:tailEnd len="med" w="med" type="none"/>
          </a:ln>
        </p:spPr>
      </p:cxnSp>
      <p:sp>
        <p:nvSpPr>
          <p:cNvPr id="345" name="Google Shape;345;p25"/>
          <p:cNvSpPr/>
          <p:nvPr/>
        </p:nvSpPr>
        <p:spPr>
          <a:xfrm>
            <a:off x="1600200" y="2874962"/>
            <a:ext cx="1598612" cy="374650"/>
          </a:xfrm>
          <a:prstGeom prst="roundRect">
            <a:avLst>
              <a:gd fmla="val 91" name="adj"/>
            </a:avLst>
          </a:prstGeom>
          <a:no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192.68.0.62:8080</a:t>
            </a:r>
            <a:endParaRPr/>
          </a:p>
        </p:txBody>
      </p:sp>
      <p:sp>
        <p:nvSpPr>
          <p:cNvPr id="346" name="Google Shape;346;p25"/>
          <p:cNvSpPr txBox="1"/>
          <p:nvPr/>
        </p:nvSpPr>
        <p:spPr>
          <a:xfrm>
            <a:off x="457200" y="2913062"/>
            <a:ext cx="546100"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DEV</a:t>
            </a:r>
            <a:endParaRPr/>
          </a:p>
        </p:txBody>
      </p:sp>
      <p:sp>
        <p:nvSpPr>
          <p:cNvPr id="347" name="Google Shape;347;p25"/>
          <p:cNvSpPr/>
          <p:nvPr/>
        </p:nvSpPr>
        <p:spPr>
          <a:xfrm>
            <a:off x="1600200" y="3630612"/>
            <a:ext cx="1598612" cy="374650"/>
          </a:xfrm>
          <a:prstGeom prst="roundRect">
            <a:avLst>
              <a:gd fmla="val 91" name="adj"/>
            </a:avLst>
          </a:prstGeom>
          <a:no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192.68.0.61:8080</a:t>
            </a:r>
            <a:endParaRPr/>
          </a:p>
        </p:txBody>
      </p:sp>
      <p:sp>
        <p:nvSpPr>
          <p:cNvPr id="348" name="Google Shape;348;p25"/>
          <p:cNvSpPr txBox="1"/>
          <p:nvPr/>
        </p:nvSpPr>
        <p:spPr>
          <a:xfrm>
            <a:off x="452437" y="3349625"/>
            <a:ext cx="985837"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Version 2.</a:t>
            </a:r>
            <a:endParaRPr/>
          </a:p>
        </p:txBody>
      </p:sp>
      <p:sp>
        <p:nvSpPr>
          <p:cNvPr id="349" name="Google Shape;349;p25"/>
          <p:cNvSpPr txBox="1"/>
          <p:nvPr/>
        </p:nvSpPr>
        <p:spPr>
          <a:xfrm>
            <a:off x="457200" y="3668712"/>
            <a:ext cx="912812"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BACKUP</a:t>
            </a:r>
            <a:endParaRPr/>
          </a:p>
        </p:txBody>
      </p:sp>
      <p:sp>
        <p:nvSpPr>
          <p:cNvPr id="350" name="Google Shape;350;p25"/>
          <p:cNvSpPr/>
          <p:nvPr/>
        </p:nvSpPr>
        <p:spPr>
          <a:xfrm>
            <a:off x="1600200" y="4062412"/>
            <a:ext cx="1598612" cy="374650"/>
          </a:xfrm>
          <a:prstGeom prst="roundRect">
            <a:avLst>
              <a:gd fmla="val 91" name="adj"/>
            </a:avLst>
          </a:prstGeom>
          <a:no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192.68.0.62:8080</a:t>
            </a:r>
            <a:endParaRPr/>
          </a:p>
        </p:txBody>
      </p:sp>
      <p:sp>
        <p:nvSpPr>
          <p:cNvPr id="351" name="Google Shape;351;p25"/>
          <p:cNvSpPr txBox="1"/>
          <p:nvPr/>
        </p:nvSpPr>
        <p:spPr>
          <a:xfrm>
            <a:off x="457200" y="4100512"/>
            <a:ext cx="693737"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PROD</a:t>
            </a:r>
            <a:endParaRPr/>
          </a:p>
        </p:txBody>
      </p:sp>
      <p:sp>
        <p:nvSpPr>
          <p:cNvPr id="352" name="Google Shape;352;p25"/>
          <p:cNvSpPr/>
          <p:nvPr/>
        </p:nvSpPr>
        <p:spPr>
          <a:xfrm>
            <a:off x="1601787" y="4530725"/>
            <a:ext cx="1598612" cy="374650"/>
          </a:xfrm>
          <a:prstGeom prst="roundRect">
            <a:avLst>
              <a:gd fmla="val 91" name="adj"/>
            </a:avLst>
          </a:prstGeom>
          <a:no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192.68.0.63:8080</a:t>
            </a:r>
            <a:endParaRPr/>
          </a:p>
        </p:txBody>
      </p:sp>
      <p:sp>
        <p:nvSpPr>
          <p:cNvPr id="353" name="Google Shape;353;p25"/>
          <p:cNvSpPr txBox="1"/>
          <p:nvPr/>
        </p:nvSpPr>
        <p:spPr>
          <a:xfrm>
            <a:off x="458787" y="4568825"/>
            <a:ext cx="546100"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DEV</a:t>
            </a:r>
            <a:endParaRPr/>
          </a:p>
        </p:txBody>
      </p:sp>
      <p:cxnSp>
        <p:nvCxnSpPr>
          <p:cNvPr id="354" name="Google Shape;354;p25"/>
          <p:cNvCxnSpPr/>
          <p:nvPr/>
        </p:nvCxnSpPr>
        <p:spPr>
          <a:xfrm>
            <a:off x="457200" y="2146300"/>
            <a:ext cx="9144000" cy="1587"/>
          </a:xfrm>
          <a:prstGeom prst="straightConnector1">
            <a:avLst/>
          </a:prstGeom>
          <a:noFill/>
          <a:ln cap="sq" cmpd="sng" w="36700">
            <a:solidFill>
              <a:srgbClr val="000000"/>
            </a:solidFill>
            <a:prstDash val="solid"/>
            <a:miter lim="800000"/>
            <a:headEnd len="med" w="med" type="none"/>
            <a:tailEnd len="med" w="med" type="none"/>
          </a:ln>
        </p:spPr>
      </p:cxnSp>
      <p:cxnSp>
        <p:nvCxnSpPr>
          <p:cNvPr id="355" name="Google Shape;355;p25"/>
          <p:cNvCxnSpPr/>
          <p:nvPr/>
        </p:nvCxnSpPr>
        <p:spPr>
          <a:xfrm>
            <a:off x="457200" y="6718300"/>
            <a:ext cx="9144000" cy="1587"/>
          </a:xfrm>
          <a:prstGeom prst="straightConnector1">
            <a:avLst/>
          </a:prstGeom>
          <a:noFill/>
          <a:ln cap="sq" cmpd="sng" w="36700">
            <a:solidFill>
              <a:srgbClr val="000000"/>
            </a:solidFill>
            <a:prstDash val="solid"/>
            <a:miter lim="800000"/>
            <a:headEnd len="med" w="med" type="none"/>
            <a:tailEnd len="med" w="med" type="none"/>
          </a:ln>
        </p:spPr>
      </p:cxnSp>
      <p:sp>
        <p:nvSpPr>
          <p:cNvPr id="356" name="Google Shape;356;p25"/>
          <p:cNvSpPr/>
          <p:nvPr/>
        </p:nvSpPr>
        <p:spPr>
          <a:xfrm>
            <a:off x="1600200" y="5322887"/>
            <a:ext cx="1598612" cy="374650"/>
          </a:xfrm>
          <a:prstGeom prst="roundRect">
            <a:avLst>
              <a:gd fmla="val 91" name="adj"/>
            </a:avLst>
          </a:prstGeom>
          <a:no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192.68.0.61:8080</a:t>
            </a:r>
            <a:endParaRPr/>
          </a:p>
        </p:txBody>
      </p:sp>
      <p:sp>
        <p:nvSpPr>
          <p:cNvPr id="357" name="Google Shape;357;p25"/>
          <p:cNvSpPr txBox="1"/>
          <p:nvPr/>
        </p:nvSpPr>
        <p:spPr>
          <a:xfrm>
            <a:off x="457200" y="5360987"/>
            <a:ext cx="546100"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DEV</a:t>
            </a:r>
            <a:endParaRPr/>
          </a:p>
        </p:txBody>
      </p:sp>
      <p:sp>
        <p:nvSpPr>
          <p:cNvPr id="358" name="Google Shape;358;p25"/>
          <p:cNvSpPr/>
          <p:nvPr/>
        </p:nvSpPr>
        <p:spPr>
          <a:xfrm>
            <a:off x="1600200" y="5754687"/>
            <a:ext cx="1598612" cy="374650"/>
          </a:xfrm>
          <a:prstGeom prst="roundRect">
            <a:avLst>
              <a:gd fmla="val 91" name="adj"/>
            </a:avLst>
          </a:prstGeom>
          <a:no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192.68.0.62:8080</a:t>
            </a:r>
            <a:endParaRPr/>
          </a:p>
        </p:txBody>
      </p:sp>
      <p:sp>
        <p:nvSpPr>
          <p:cNvPr id="359" name="Google Shape;359;p25"/>
          <p:cNvSpPr txBox="1"/>
          <p:nvPr/>
        </p:nvSpPr>
        <p:spPr>
          <a:xfrm>
            <a:off x="457200" y="5792787"/>
            <a:ext cx="912812"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BACKUP</a:t>
            </a:r>
            <a:endParaRPr/>
          </a:p>
        </p:txBody>
      </p:sp>
      <p:sp>
        <p:nvSpPr>
          <p:cNvPr id="360" name="Google Shape;360;p25"/>
          <p:cNvSpPr/>
          <p:nvPr/>
        </p:nvSpPr>
        <p:spPr>
          <a:xfrm>
            <a:off x="1601787" y="6223000"/>
            <a:ext cx="1598612" cy="374650"/>
          </a:xfrm>
          <a:prstGeom prst="roundRect">
            <a:avLst>
              <a:gd fmla="val 91" name="adj"/>
            </a:avLst>
          </a:prstGeom>
          <a:noFill/>
          <a:ln cap="sq" cmpd="sng" w="9525">
            <a:solidFill>
              <a:srgbClr val="000000"/>
            </a:solidFill>
            <a:prstDash val="solid"/>
            <a:miter lim="800000"/>
            <a:headEnd len="sm" w="sm" type="none"/>
            <a:tailEnd len="sm" w="sm" type="none"/>
          </a:ln>
        </p:spPr>
        <p:txBody>
          <a:bodyPr anchorCtr="1" anchor="ctr"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192.68.0.63:8080</a:t>
            </a:r>
            <a:endParaRPr/>
          </a:p>
        </p:txBody>
      </p:sp>
      <p:sp>
        <p:nvSpPr>
          <p:cNvPr id="361" name="Google Shape;361;p25"/>
          <p:cNvSpPr txBox="1"/>
          <p:nvPr/>
        </p:nvSpPr>
        <p:spPr>
          <a:xfrm>
            <a:off x="458787" y="6261100"/>
            <a:ext cx="693737"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PROD</a:t>
            </a:r>
            <a:endParaRPr/>
          </a:p>
        </p:txBody>
      </p:sp>
      <p:sp>
        <p:nvSpPr>
          <p:cNvPr id="362" name="Google Shape;362;p25"/>
          <p:cNvSpPr txBox="1"/>
          <p:nvPr/>
        </p:nvSpPr>
        <p:spPr>
          <a:xfrm>
            <a:off x="452437" y="5041900"/>
            <a:ext cx="985837"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Version 3.</a:t>
            </a:r>
            <a:endParaRPr/>
          </a:p>
        </p:txBody>
      </p:sp>
      <p:sp>
        <p:nvSpPr>
          <p:cNvPr id="363" name="Google Shape;363;p25"/>
          <p:cNvSpPr txBox="1"/>
          <p:nvPr/>
        </p:nvSpPr>
        <p:spPr>
          <a:xfrm>
            <a:off x="3429000" y="2454275"/>
            <a:ext cx="2928937"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Application production version VM.</a:t>
            </a:r>
            <a:endParaRPr/>
          </a:p>
        </p:txBody>
      </p:sp>
      <p:sp>
        <p:nvSpPr>
          <p:cNvPr id="364" name="Google Shape;364;p25"/>
          <p:cNvSpPr txBox="1"/>
          <p:nvPr/>
        </p:nvSpPr>
        <p:spPr>
          <a:xfrm>
            <a:off x="3429000" y="2922587"/>
            <a:ext cx="2489200" cy="2889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Application development VM.</a:t>
            </a:r>
            <a:endParaRPr/>
          </a:p>
        </p:txBody>
      </p:sp>
      <p:sp>
        <p:nvSpPr>
          <p:cNvPr id="365" name="Google Shape;365;p25"/>
          <p:cNvSpPr txBox="1"/>
          <p:nvPr/>
        </p:nvSpPr>
        <p:spPr>
          <a:xfrm>
            <a:off x="3429000" y="3498850"/>
            <a:ext cx="6172200" cy="68421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After completion DEV version is promoted to PROD, PROD is referenced as a BACKUP, and a new VM with internal address – 192.68.0.63:8080 is implemented to provide support for development.</a:t>
            </a:r>
            <a:endParaRPr/>
          </a:p>
        </p:txBody>
      </p:sp>
      <p:sp>
        <p:nvSpPr>
          <p:cNvPr id="366" name="Google Shape;366;p25"/>
          <p:cNvSpPr txBox="1"/>
          <p:nvPr/>
        </p:nvSpPr>
        <p:spPr>
          <a:xfrm>
            <a:off x="3430587" y="5083175"/>
            <a:ext cx="6172200" cy="141922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For the version 3 and further, the following schema is using to switch references in DNA:</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DEV ===&gt; PROD</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PROD ===&gt; BACKUP</a:t>
            </a:r>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BACKUP ===&gt; DEV.</a:t>
            </a:r>
            <a:endParaRPr/>
          </a:p>
          <a:p>
            <a:pPr indent="0" lvl="0" marL="0" marR="0" rtl="0" algn="l">
              <a:lnSpc>
                <a:spcPct val="93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This schema guaranties that previous version of the application is always working in parallel with the new one, serving as a back up in case of a failure.</a:t>
            </a:r>
            <a:endParaRPr/>
          </a:p>
        </p:txBody>
      </p:sp>
      <p:cxnSp>
        <p:nvCxnSpPr>
          <p:cNvPr id="367" name="Google Shape;367;p25"/>
          <p:cNvCxnSpPr/>
          <p:nvPr/>
        </p:nvCxnSpPr>
        <p:spPr>
          <a:xfrm>
            <a:off x="3886200" y="1600200"/>
            <a:ext cx="914400" cy="1587"/>
          </a:xfrm>
          <a:prstGeom prst="straightConnector1">
            <a:avLst/>
          </a:prstGeom>
          <a:noFill/>
          <a:ln cap="sq" cmpd="sng" w="9525">
            <a:solidFill>
              <a:srgbClr val="000000"/>
            </a:solidFill>
            <a:prstDash val="solid"/>
            <a:miter lim="800000"/>
            <a:headEnd len="med" w="med" type="none"/>
            <a:tailEnd len="med" w="med" type="triangle"/>
          </a:ln>
        </p:spPr>
      </p:cxnSp>
      <p:sp>
        <p:nvSpPr>
          <p:cNvPr id="368" name="Google Shape;368;p25"/>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6"/>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3200"/>
              <a:buFont typeface="Arial"/>
              <a:buNone/>
            </a:pPr>
            <a:r>
              <a:rPr b="0" i="0" lang="en-US" sz="3200" u="none">
                <a:solidFill>
                  <a:srgbClr val="000000"/>
                </a:solidFill>
                <a:latin typeface="Arial"/>
                <a:ea typeface="Arial"/>
                <a:cs typeface="Arial"/>
                <a:sym typeface="Arial"/>
              </a:rPr>
              <a:t>Octopus CIP user interfaces</a:t>
            </a:r>
            <a:endParaRPr/>
          </a:p>
        </p:txBody>
      </p:sp>
      <p:sp>
        <p:nvSpPr>
          <p:cNvPr id="375" name="Google Shape;375;p26"/>
          <p:cNvSpPr txBox="1"/>
          <p:nvPr/>
        </p:nvSpPr>
        <p:spPr>
          <a:xfrm>
            <a:off x="457200" y="1755775"/>
            <a:ext cx="9144000" cy="4029075"/>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The base of Octopus CIP is Octopus Core Java API library. It includes the following parts:</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	- base classes and interfaces for creation of new Octopus processors and 		models;</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	- durable out of memory support for persistence and access to Octopus 		processors and models in the Object database (Octopus Repository);</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	- Octopus run-time environment;</a:t>
            </a:r>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	- In-memory durable run-time persistence - Octopus Memory.</a:t>
            </a:r>
            <a:endParaRPr/>
          </a:p>
          <a:p>
            <a:pPr indent="0" lvl="0" marL="0" marR="0" rtl="0" algn="l">
              <a:lnSpc>
                <a:spcPct val="93000"/>
              </a:lnSpc>
              <a:spcBef>
                <a:spcPts val="0"/>
              </a:spcBef>
              <a:spcAft>
                <a:spcPts val="0"/>
              </a:spcAft>
              <a:buClr>
                <a:srgbClr val="FFFFFF"/>
              </a:buClr>
              <a:buSzPts val="2000"/>
              <a:buFont typeface="Arial"/>
              <a:buNone/>
            </a:pPr>
            <a:r>
              <a:t/>
            </a:r>
            <a:endParaRPr b="0" i="0" sz="20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Octopus processors and models cannot run outside of Octopus run-time environment, they also do not provide GUI for source and output data – those functions are delegated to special Octopus CIP GUI modules. </a:t>
            </a:r>
            <a:endParaRPr/>
          </a:p>
          <a:p>
            <a:pPr indent="0" lvl="0" marL="0" marR="0" rtl="0" algn="l">
              <a:lnSpc>
                <a:spcPct val="93000"/>
              </a:lnSpc>
              <a:spcBef>
                <a:spcPts val="0"/>
              </a:spcBef>
              <a:spcAft>
                <a:spcPts val="0"/>
              </a:spcAft>
              <a:buNone/>
            </a:pPr>
            <a:r>
              <a:t/>
            </a:r>
            <a:endParaRPr b="0" i="0" sz="2000" u="none">
              <a:solidFill>
                <a:srgbClr val="000000"/>
              </a:solidFill>
              <a:latin typeface="Arial"/>
              <a:ea typeface="Arial"/>
              <a:cs typeface="Arial"/>
              <a:sym typeface="Arial"/>
            </a:endParaRPr>
          </a:p>
        </p:txBody>
      </p:sp>
      <p:sp>
        <p:nvSpPr>
          <p:cNvPr id="376" name="Google Shape;376;p26"/>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27"/>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Octopus IDE plug-ins and Designer</a:t>
            </a:r>
            <a:endParaRPr/>
          </a:p>
        </p:txBody>
      </p:sp>
      <p:pic>
        <p:nvPicPr>
          <p:cNvPr id="383" name="Google Shape;383;p27"/>
          <p:cNvPicPr preferRelativeResize="0"/>
          <p:nvPr/>
        </p:nvPicPr>
        <p:blipFill rotWithShape="1">
          <a:blip r:embed="rId3">
            <a:alphaModFix/>
          </a:blip>
          <a:srcRect b="0" l="0" r="0" t="0"/>
          <a:stretch/>
        </p:blipFill>
        <p:spPr>
          <a:xfrm>
            <a:off x="763587" y="5354637"/>
            <a:ext cx="1666875" cy="1009650"/>
          </a:xfrm>
          <a:prstGeom prst="rect">
            <a:avLst/>
          </a:prstGeom>
          <a:noFill/>
          <a:ln>
            <a:noFill/>
          </a:ln>
        </p:spPr>
      </p:pic>
      <p:pic>
        <p:nvPicPr>
          <p:cNvPr id="384" name="Google Shape;384;p27"/>
          <p:cNvPicPr preferRelativeResize="0"/>
          <p:nvPr/>
        </p:nvPicPr>
        <p:blipFill rotWithShape="1">
          <a:blip r:embed="rId4">
            <a:alphaModFix/>
          </a:blip>
          <a:srcRect b="0" l="0" r="0" t="0"/>
          <a:stretch/>
        </p:blipFill>
        <p:spPr>
          <a:xfrm>
            <a:off x="730250" y="2419350"/>
            <a:ext cx="1219200" cy="790575"/>
          </a:xfrm>
          <a:prstGeom prst="rect">
            <a:avLst/>
          </a:prstGeom>
          <a:noFill/>
          <a:ln>
            <a:noFill/>
          </a:ln>
        </p:spPr>
      </p:pic>
      <p:pic>
        <p:nvPicPr>
          <p:cNvPr id="385" name="Google Shape;385;p27"/>
          <p:cNvPicPr preferRelativeResize="0"/>
          <p:nvPr/>
        </p:nvPicPr>
        <p:blipFill rotWithShape="1">
          <a:blip r:embed="rId5">
            <a:alphaModFix/>
          </a:blip>
          <a:srcRect b="0" l="0" r="0" t="0"/>
          <a:stretch/>
        </p:blipFill>
        <p:spPr>
          <a:xfrm>
            <a:off x="749300" y="3490912"/>
            <a:ext cx="1657350" cy="1143000"/>
          </a:xfrm>
          <a:prstGeom prst="rect">
            <a:avLst/>
          </a:prstGeom>
          <a:noFill/>
          <a:ln>
            <a:noFill/>
          </a:ln>
        </p:spPr>
      </p:pic>
      <p:sp>
        <p:nvSpPr>
          <p:cNvPr id="386" name="Google Shape;386;p27"/>
          <p:cNvSpPr txBox="1"/>
          <p:nvPr/>
        </p:nvSpPr>
        <p:spPr>
          <a:xfrm>
            <a:off x="685800" y="927100"/>
            <a:ext cx="8915400" cy="11303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Octopus processors are regular Java classes (POJO). They can be created using any of available Java IDE (Integrated Development Environment) or even Notepad. However, to perform debugging, testing and saving of processors in the Object Database we need special tools. </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As of time of this writing, two plug-ins for Eclipse and Netbeans are in the late stages of development.</a:t>
            </a:r>
            <a:endParaRPr/>
          </a:p>
        </p:txBody>
      </p:sp>
      <p:sp>
        <p:nvSpPr>
          <p:cNvPr id="387" name="Google Shape;387;p27"/>
          <p:cNvSpPr txBox="1"/>
          <p:nvPr/>
        </p:nvSpPr>
        <p:spPr>
          <a:xfrm>
            <a:off x="3200400" y="2274887"/>
            <a:ext cx="6400800" cy="229711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Both plug-in's are functionally identical. The differences are mainly due to the implementation of GUI API in Eclipse and Netbeans. </a:t>
            </a:r>
            <a:endParaRPr/>
          </a:p>
          <a:p>
            <a:pPr indent="0" lvl="0" marL="0" marR="0" rtl="0" algn="l">
              <a:lnSpc>
                <a:spcPct val="93000"/>
              </a:lnSpc>
              <a:spcBef>
                <a:spcPts val="0"/>
              </a:spcBef>
              <a:spcAft>
                <a:spcPts val="0"/>
              </a:spcAft>
              <a:buClr>
                <a:srgbClr val="FFFFFF"/>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Plug-ins create an Octopus project that includes predefined project structure and auto-generated code for basic Octopus processors (Source.java, Sink.java, Processor.java). Plug-ins also provide support for testing, debugging and deployment of Octopus processors to the Octopus Cloud.</a:t>
            </a:r>
            <a:endParaRPr/>
          </a:p>
          <a:p>
            <a:pPr indent="0" lvl="0" marL="0" marR="0" rtl="0" algn="l">
              <a:lnSpc>
                <a:spcPct val="93000"/>
              </a:lnSpc>
              <a:spcBef>
                <a:spcPts val="0"/>
              </a:spcBef>
              <a:spcAft>
                <a:spcPts val="0"/>
              </a:spcAft>
              <a:buClr>
                <a:srgbClr val="FFFFFF"/>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Plug-ins are, basically, specialized versions of Octopus designer adapted for Eclipse and Netbeans. </a:t>
            </a:r>
            <a:endParaRPr/>
          </a:p>
        </p:txBody>
      </p:sp>
      <p:sp>
        <p:nvSpPr>
          <p:cNvPr id="388" name="Google Shape;388;p27"/>
          <p:cNvSpPr txBox="1"/>
          <p:nvPr/>
        </p:nvSpPr>
        <p:spPr>
          <a:xfrm>
            <a:off x="3200400" y="5200650"/>
            <a:ext cx="6629400" cy="1277937"/>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 Designer is the only environment where Octopus models can be created. It supports all steps of Octopus model development cycle.</a:t>
            </a:r>
            <a:endParaRPr/>
          </a:p>
          <a:p>
            <a:pPr indent="0" lvl="0" marL="0" marR="0" rtl="0" algn="l">
              <a:lnSpc>
                <a:spcPct val="93000"/>
              </a:lnSpc>
              <a:spcBef>
                <a:spcPts val="0"/>
              </a:spcBef>
              <a:spcAft>
                <a:spcPts val="0"/>
              </a:spcAft>
              <a:buClr>
                <a:srgbClr val="FFFFFF"/>
              </a:buClr>
              <a:buSzPts val="1400"/>
              <a:buFont typeface="Arial"/>
              <a:buNone/>
            </a:pPr>
            <a:r>
              <a:t/>
            </a:r>
            <a:endParaRPr b="0" i="0" sz="14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Octopus designer can also be used as an analytical tool in cases when statistical or simulation models require input from the experts as part of analytical process.</a:t>
            </a:r>
            <a:endParaRPr/>
          </a:p>
        </p:txBody>
      </p:sp>
      <p:sp>
        <p:nvSpPr>
          <p:cNvPr id="389" name="Google Shape;389;p27"/>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 name="Shape 394"/>
        <p:cNvGrpSpPr/>
        <p:nvPr/>
      </p:nvGrpSpPr>
      <p:grpSpPr>
        <a:xfrm>
          <a:off x="0" y="0"/>
          <a:ext cx="0" cy="0"/>
          <a:chOff x="0" y="0"/>
          <a:chExt cx="0" cy="0"/>
        </a:xfrm>
      </p:grpSpPr>
      <p:sp>
        <p:nvSpPr>
          <p:cNvPr id="395" name="Google Shape;395;p28"/>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Octopus Elastic Spread Sheet (Octopus ES2)</a:t>
            </a:r>
            <a:endParaRPr/>
          </a:p>
        </p:txBody>
      </p:sp>
      <p:sp>
        <p:nvSpPr>
          <p:cNvPr id="396" name="Google Shape;396;p28"/>
          <p:cNvSpPr txBox="1"/>
          <p:nvPr/>
        </p:nvSpPr>
        <p:spPr>
          <a:xfrm>
            <a:off x="533400" y="1295400"/>
            <a:ext cx="8959850" cy="497205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500"/>
              <a:buFont typeface="Arial"/>
              <a:buNone/>
            </a:pPr>
            <a:r>
              <a:rPr b="0" i="0" lang="en-US" sz="1500" u="none">
                <a:solidFill>
                  <a:srgbClr val="000000"/>
                </a:solidFill>
                <a:latin typeface="Arial"/>
                <a:ea typeface="Arial"/>
                <a:cs typeface="Arial"/>
                <a:sym typeface="Arial"/>
              </a:rPr>
              <a:t>Starting from original VisiCalc for Apple II, Spreadsheet is holding a position as a perfect tool for complex analytical work and statistical data analysis.</a:t>
            </a:r>
            <a:endParaRPr/>
          </a:p>
          <a:p>
            <a:pPr indent="0" lvl="0" marL="0" marR="0" rtl="0" algn="l">
              <a:lnSpc>
                <a:spcPct val="93000"/>
              </a:lnSpc>
              <a:spcBef>
                <a:spcPts val="0"/>
              </a:spcBef>
              <a:spcAft>
                <a:spcPts val="0"/>
              </a:spcAft>
              <a:buClr>
                <a:srgbClr val="FFFFFF"/>
              </a:buClr>
              <a:buSzPts val="1500"/>
              <a:buFont typeface="Arial"/>
              <a:buNone/>
            </a:pPr>
            <a:r>
              <a:t/>
            </a:r>
            <a:endParaRPr b="0" i="0" sz="15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500"/>
              <a:buFont typeface="Arial"/>
              <a:buNone/>
            </a:pPr>
            <a:r>
              <a:rPr b="0" i="0" lang="en-US" sz="1500" u="none">
                <a:solidFill>
                  <a:srgbClr val="000000"/>
                </a:solidFill>
                <a:latin typeface="Arial"/>
                <a:ea typeface="Arial"/>
                <a:cs typeface="Arial"/>
                <a:sym typeface="Arial"/>
              </a:rPr>
              <a:t>MS Excel is the most widely used Spreadsheet implementation. But many users found themselves in love-hate relationships with this tool.  </a:t>
            </a:r>
            <a:endParaRPr/>
          </a:p>
          <a:p>
            <a:pPr indent="0" lvl="0" marL="0" marR="0" rtl="0" algn="l">
              <a:lnSpc>
                <a:spcPct val="93000"/>
              </a:lnSpc>
              <a:spcBef>
                <a:spcPts val="0"/>
              </a:spcBef>
              <a:spcAft>
                <a:spcPts val="0"/>
              </a:spcAft>
              <a:buClr>
                <a:srgbClr val="FFFFFF"/>
              </a:buClr>
              <a:buSzPts val="1500"/>
              <a:buFont typeface="Arial"/>
              <a:buNone/>
            </a:pPr>
            <a:r>
              <a:t/>
            </a:r>
            <a:endParaRPr b="0" i="0" sz="15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500"/>
              <a:buFont typeface="Arial"/>
              <a:buNone/>
            </a:pPr>
            <a:r>
              <a:rPr b="0" i="0" lang="en-US" sz="1500" u="none">
                <a:solidFill>
                  <a:srgbClr val="000000"/>
                </a:solidFill>
                <a:latin typeface="Arial"/>
                <a:ea typeface="Arial"/>
                <a:cs typeface="Arial"/>
                <a:sym typeface="Arial"/>
              </a:rPr>
              <a:t>Legacy of MS Excel:</a:t>
            </a:r>
            <a:endParaRPr/>
          </a:p>
          <a:p>
            <a:pPr indent="-280987" lvl="1" marL="738187"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The most intuitive and widely used application for Data Analysis;</a:t>
            </a:r>
            <a:endParaRPr/>
          </a:p>
          <a:p>
            <a:pPr indent="-280987" lvl="1" marL="738187"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Capable of connecting to almost anything;</a:t>
            </a:r>
            <a:endParaRPr/>
          </a:p>
          <a:p>
            <a:pPr indent="-280987" lvl="1" marL="738187"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Very flexible and can be employed by almost anybody;</a:t>
            </a:r>
            <a:endParaRPr/>
          </a:p>
          <a:p>
            <a:pPr indent="-280987" lvl="1" marL="738187"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Finally, and what is really bad, it is almost totally unmanageable.</a:t>
            </a:r>
            <a:endParaRPr/>
          </a:p>
          <a:p>
            <a:pPr indent="-280987" lvl="1" marL="738187" marR="0" rtl="0" algn="l">
              <a:lnSpc>
                <a:spcPct val="93000"/>
              </a:lnSpc>
              <a:spcBef>
                <a:spcPts val="0"/>
              </a:spcBef>
              <a:spcAft>
                <a:spcPts val="0"/>
              </a:spcAft>
              <a:buClr>
                <a:srgbClr val="FFFFFF"/>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500"/>
              <a:buFont typeface="Arial"/>
              <a:buNone/>
            </a:pPr>
            <a:r>
              <a:rPr b="0" i="0" lang="en-US" sz="1500" u="none">
                <a:solidFill>
                  <a:srgbClr val="000000"/>
                </a:solidFill>
                <a:latin typeface="Arial"/>
                <a:ea typeface="Arial"/>
                <a:cs typeface="Arial"/>
                <a:sym typeface="Arial"/>
              </a:rPr>
              <a:t>How to fix Excel:</a:t>
            </a:r>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	- </a:t>
            </a:r>
            <a:r>
              <a:rPr b="0" i="0" lang="en-US" sz="1600" u="none">
                <a:solidFill>
                  <a:srgbClr val="000000"/>
                </a:solidFill>
                <a:latin typeface="Arial"/>
                <a:ea typeface="Arial"/>
                <a:cs typeface="Arial"/>
                <a:sym typeface="Arial"/>
              </a:rPr>
              <a:t>The cause of manageability problems, is in what was originally presented as an 			advantage of Spreadsheets – cell based computational model;</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This model works perfect with relatively simple computations and turns into a 				nightmare attempting to perform complex data processing, that is implemented in latest versions of Excel;</a:t>
            </a:r>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	- The Solution is in separation of Data Presentation and Data Processing. Excel broke 			all known rules of object oriented programming.</a:t>
            </a:r>
            <a:endParaRPr/>
          </a:p>
          <a:p>
            <a:pPr indent="0" lvl="0" marL="0" marR="0" rtl="0" algn="l">
              <a:lnSpc>
                <a:spcPct val="93000"/>
              </a:lnSpc>
              <a:spcBef>
                <a:spcPts val="0"/>
              </a:spcBef>
              <a:spcAft>
                <a:spcPts val="0"/>
              </a:spcAft>
              <a:buClr>
                <a:srgbClr val="FFFFFF"/>
              </a:buClr>
              <a:buSzPts val="1500"/>
              <a:buFont typeface="Arial"/>
              <a:buNone/>
            </a:pPr>
            <a:r>
              <a:t/>
            </a:r>
            <a:endParaRPr b="0" i="0" sz="1500" u="none">
              <a:solidFill>
                <a:srgbClr val="000000"/>
              </a:solidFill>
              <a:latin typeface="Arial"/>
              <a:ea typeface="Arial"/>
              <a:cs typeface="Arial"/>
              <a:sym typeface="Arial"/>
            </a:endParaRPr>
          </a:p>
          <a:p>
            <a:pPr indent="0" lvl="0" marL="0" marR="0" rtl="0" algn="l">
              <a:lnSpc>
                <a:spcPct val="93000"/>
              </a:lnSpc>
              <a:spcBef>
                <a:spcPts val="0"/>
              </a:spcBef>
              <a:spcAft>
                <a:spcPts val="0"/>
              </a:spcAft>
              <a:buNone/>
            </a:pPr>
            <a:r>
              <a:t/>
            </a:r>
            <a:endParaRPr b="0" i="0" sz="1500" u="none">
              <a:solidFill>
                <a:srgbClr val="000000"/>
              </a:solidFill>
              <a:latin typeface="Arial"/>
              <a:ea typeface="Arial"/>
              <a:cs typeface="Arial"/>
              <a:sym typeface="Arial"/>
            </a:endParaRPr>
          </a:p>
        </p:txBody>
      </p:sp>
      <p:sp>
        <p:nvSpPr>
          <p:cNvPr id="397" name="Google Shape;397;p28"/>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29"/>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Octopus ES2 solution</a:t>
            </a:r>
            <a:endParaRPr/>
          </a:p>
        </p:txBody>
      </p:sp>
      <p:sp>
        <p:nvSpPr>
          <p:cNvPr id="404" name="Google Shape;404;p29"/>
          <p:cNvSpPr txBox="1"/>
          <p:nvPr/>
        </p:nvSpPr>
        <p:spPr>
          <a:xfrm>
            <a:off x="533400" y="1295400"/>
            <a:ext cx="8959850" cy="497205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The solution for MS Excel shortcomings is in creating of totally new kind of Spreadsheets that will support Separation of Data Presentation and Data Processing. </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This new Enterprise level Elastic Spreadsheet is presented by Octopus ES2. This implementation includes the following features:</a:t>
            </a:r>
            <a:endParaRPr/>
          </a:p>
          <a:p>
            <a:pPr indent="0" lvl="0" marL="0" marR="0" rtl="0" algn="l">
              <a:lnSpc>
                <a:spcPct val="93000"/>
              </a:lnSpc>
              <a:spcBef>
                <a:spcPts val="0"/>
              </a:spcBef>
              <a:spcAft>
                <a:spcPts val="0"/>
              </a:spcAft>
              <a:buClr>
                <a:srgbClr val="FFFFFF"/>
              </a:buClr>
              <a:buSzPts val="1800"/>
              <a:buFont typeface="Arial"/>
              <a:buNone/>
            </a:pPr>
            <a:r>
              <a:t/>
            </a:r>
            <a:endParaRPr b="0" i="0" sz="1800" u="none">
              <a:solidFill>
                <a:srgbClr val="000000"/>
              </a:solidFill>
              <a:latin typeface="Arial"/>
              <a:ea typeface="Arial"/>
              <a:cs typeface="Arial"/>
              <a:sym typeface="Arial"/>
            </a:endParaRPr>
          </a:p>
          <a:p>
            <a:pPr indent="-280987" lvl="1" marL="738187"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It makes it possible to keep data, processing models and presentation -separate;</a:t>
            </a:r>
            <a:endParaRPr/>
          </a:p>
          <a:p>
            <a:pPr indent="-280987" lvl="1" marL="738187"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Source processors of the Octopus models provide access to wide variety of external data sources using data queries or filters, streaming data feeds or any kind of messaging system outputs;</a:t>
            </a:r>
            <a:endParaRPr/>
          </a:p>
          <a:p>
            <a:pPr indent="-280987" lvl="1" marL="738187"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Calculating procedures (Octopus Models) are attached to data logically and are capable of dynamic data processing; this allows using calculating models and processes with data from different spreadsheets;</a:t>
            </a:r>
            <a:endParaRPr/>
          </a:p>
          <a:p>
            <a:pPr indent="-280987" lvl="1" marL="738187"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The same data can be subject to processing by different models;</a:t>
            </a:r>
            <a:endParaRPr/>
          </a:p>
          <a:p>
            <a:pPr indent="-280987" lvl="1" marL="738187"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Octopus Cloud turns ES2 into scalable, sharable and collaborative environment;</a:t>
            </a:r>
            <a:endParaRPr/>
          </a:p>
          <a:p>
            <a:pPr indent="-280987" lvl="1" marL="738187" marR="0" rtl="0" algn="l">
              <a:lnSpc>
                <a:spcPct val="93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Arial"/>
                <a:ea typeface="Arial"/>
                <a:cs typeface="Arial"/>
                <a:sym typeface="Arial"/>
              </a:rPr>
              <a:t>The presentation is very customizable and can mimic any existing Spreadsheet  Graphical User Interface.      </a:t>
            </a:r>
            <a:endParaRPr/>
          </a:p>
          <a:p>
            <a:pPr indent="0" lvl="0" marL="0" marR="0" rtl="0" algn="l">
              <a:lnSpc>
                <a:spcPct val="93000"/>
              </a:lnSpc>
              <a:spcBef>
                <a:spcPts val="0"/>
              </a:spcBef>
              <a:spcAft>
                <a:spcPts val="0"/>
              </a:spcAft>
              <a:buClr>
                <a:srgbClr val="FFFFFF"/>
              </a:buClr>
              <a:buSzPts val="1500"/>
              <a:buFont typeface="Arial"/>
              <a:buNone/>
            </a:pPr>
            <a:r>
              <a:t/>
            </a:r>
            <a:endParaRPr b="0" i="0" sz="1500" u="none">
              <a:solidFill>
                <a:srgbClr val="000000"/>
              </a:solidFill>
              <a:latin typeface="Arial"/>
              <a:ea typeface="Arial"/>
              <a:cs typeface="Arial"/>
              <a:sym typeface="Arial"/>
            </a:endParaRPr>
          </a:p>
          <a:p>
            <a:pPr indent="0" lvl="0" marL="0" marR="0" rtl="0" algn="l">
              <a:lnSpc>
                <a:spcPct val="93000"/>
              </a:lnSpc>
              <a:spcBef>
                <a:spcPts val="0"/>
              </a:spcBef>
              <a:spcAft>
                <a:spcPts val="0"/>
              </a:spcAft>
              <a:buNone/>
            </a:pPr>
            <a:r>
              <a:t/>
            </a:r>
            <a:endParaRPr b="0" i="0" sz="1500" u="none">
              <a:solidFill>
                <a:srgbClr val="000000"/>
              </a:solidFill>
              <a:latin typeface="Arial"/>
              <a:ea typeface="Arial"/>
              <a:cs typeface="Arial"/>
              <a:sym typeface="Arial"/>
            </a:endParaRPr>
          </a:p>
        </p:txBody>
      </p:sp>
      <p:sp>
        <p:nvSpPr>
          <p:cNvPr id="405" name="Google Shape;405;p29"/>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30"/>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Google Spreadsheet as an UI for Octopus CIP</a:t>
            </a:r>
            <a:endParaRPr/>
          </a:p>
        </p:txBody>
      </p:sp>
      <p:pic>
        <p:nvPicPr>
          <p:cNvPr id="412" name="Google Shape;412;p30"/>
          <p:cNvPicPr preferRelativeResize="0"/>
          <p:nvPr/>
        </p:nvPicPr>
        <p:blipFill rotWithShape="1">
          <a:blip r:embed="rId3">
            <a:alphaModFix/>
          </a:blip>
          <a:srcRect b="7244" l="0" r="26068" t="9982"/>
          <a:stretch/>
        </p:blipFill>
        <p:spPr>
          <a:xfrm>
            <a:off x="4970462" y="2201862"/>
            <a:ext cx="4649787" cy="3514725"/>
          </a:xfrm>
          <a:prstGeom prst="rect">
            <a:avLst/>
          </a:prstGeom>
          <a:noFill/>
          <a:ln>
            <a:noFill/>
          </a:ln>
        </p:spPr>
      </p:pic>
      <p:sp>
        <p:nvSpPr>
          <p:cNvPr id="413" name="Google Shape;413;p30"/>
          <p:cNvSpPr txBox="1"/>
          <p:nvPr/>
        </p:nvSpPr>
        <p:spPr>
          <a:xfrm>
            <a:off x="431800" y="1071562"/>
            <a:ext cx="8988425" cy="76835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Octopus CIP turns Google Spreadsheet (GSS) into a perfect, highly customizable implementation of the Elastic Spreadsheet concept. Octopus models equipped with specialized Source and Sink processors can use Google Spreadsheets for interactive data exchange. Octopus models can use Google spreadsheets directly or as a part of custom web application.</a:t>
            </a:r>
            <a:endParaRPr/>
          </a:p>
        </p:txBody>
      </p:sp>
      <p:sp>
        <p:nvSpPr>
          <p:cNvPr id="414" name="Google Shape;414;p30"/>
          <p:cNvSpPr/>
          <p:nvPr/>
        </p:nvSpPr>
        <p:spPr>
          <a:xfrm>
            <a:off x="457200" y="1976437"/>
            <a:ext cx="4343400" cy="76835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FFFFFF"/>
              </a:solidFill>
              <a:latin typeface="Arial"/>
              <a:ea typeface="Arial"/>
              <a:cs typeface="Arial"/>
              <a:sym typeface="Arial"/>
            </a:endParaRPr>
          </a:p>
        </p:txBody>
      </p:sp>
      <p:sp>
        <p:nvSpPr>
          <p:cNvPr id="415" name="Google Shape;415;p30"/>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416" name="Google Shape;416;p30"/>
          <p:cNvPicPr preferRelativeResize="0"/>
          <p:nvPr/>
        </p:nvPicPr>
        <p:blipFill rotWithShape="1">
          <a:blip r:embed="rId4">
            <a:alphaModFix/>
          </a:blip>
          <a:srcRect b="8126" l="12107" r="12107" t="12196"/>
          <a:stretch/>
        </p:blipFill>
        <p:spPr>
          <a:xfrm>
            <a:off x="539750" y="2700337"/>
            <a:ext cx="5116512" cy="349091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31"/>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Custom UI and visualizations</a:t>
            </a:r>
            <a:endParaRPr/>
          </a:p>
        </p:txBody>
      </p:sp>
      <p:pic>
        <p:nvPicPr>
          <p:cNvPr id="423" name="Google Shape;423;p31"/>
          <p:cNvPicPr preferRelativeResize="0"/>
          <p:nvPr/>
        </p:nvPicPr>
        <p:blipFill rotWithShape="1">
          <a:blip r:embed="rId3">
            <a:alphaModFix/>
          </a:blip>
          <a:srcRect b="0" l="1403" r="3125" t="6056"/>
          <a:stretch/>
        </p:blipFill>
        <p:spPr>
          <a:xfrm>
            <a:off x="349250" y="1874837"/>
            <a:ext cx="9372600" cy="4800600"/>
          </a:xfrm>
          <a:prstGeom prst="rect">
            <a:avLst/>
          </a:prstGeom>
          <a:noFill/>
          <a:ln>
            <a:noFill/>
          </a:ln>
        </p:spPr>
      </p:pic>
      <p:sp>
        <p:nvSpPr>
          <p:cNvPr id="424" name="Google Shape;424;p31"/>
          <p:cNvSpPr txBox="1"/>
          <p:nvPr/>
        </p:nvSpPr>
        <p:spPr>
          <a:xfrm>
            <a:off x="312737" y="914400"/>
            <a:ext cx="9372600" cy="76835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Octopus CIP supports major data exchange formats, used in web applications. Bellow, is an example demonstrating use of EJS TreeGrid JavaScript library, to provide data grid based user interface. </a:t>
            </a:r>
            <a:endParaRPr/>
          </a:p>
        </p:txBody>
      </p:sp>
      <p:sp>
        <p:nvSpPr>
          <p:cNvPr id="425" name="Google Shape;425;p31"/>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pic>
        <p:nvPicPr>
          <p:cNvPr id="426" name="Google Shape;426;p31"/>
          <p:cNvPicPr preferRelativeResize="0"/>
          <p:nvPr/>
        </p:nvPicPr>
        <p:blipFill rotWithShape="1">
          <a:blip r:embed="rId4">
            <a:alphaModFix/>
          </a:blip>
          <a:srcRect b="3555" l="2882" r="2882" t="9138"/>
          <a:stretch/>
        </p:blipFill>
        <p:spPr>
          <a:xfrm>
            <a:off x="285750" y="1684337"/>
            <a:ext cx="9532937" cy="501173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32"/>
          <p:cNvSpPr txBox="1"/>
          <p:nvPr/>
        </p:nvSpPr>
        <p:spPr>
          <a:xfrm>
            <a:off x="503237" y="266700"/>
            <a:ext cx="9067800" cy="681037"/>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Custom UI and visualizations</a:t>
            </a:r>
            <a:br>
              <a:rPr b="0" i="0" lang="en-US" sz="2800" u="none">
                <a:solidFill>
                  <a:srgbClr val="000000"/>
                </a:solidFill>
                <a:latin typeface="Arial"/>
                <a:ea typeface="Arial"/>
                <a:cs typeface="Arial"/>
                <a:sym typeface="Arial"/>
              </a:rPr>
            </a:br>
            <a:r>
              <a:rPr b="0" i="0" lang="en-US" sz="2000" u="none">
                <a:solidFill>
                  <a:srgbClr val="000000"/>
                </a:solidFill>
                <a:latin typeface="Arial"/>
                <a:ea typeface="Arial"/>
                <a:cs typeface="Arial"/>
                <a:sym typeface="Arial"/>
              </a:rPr>
              <a:t>(continue)</a:t>
            </a:r>
            <a:endParaRPr/>
          </a:p>
        </p:txBody>
      </p:sp>
      <p:sp>
        <p:nvSpPr>
          <p:cNvPr id="433" name="Google Shape;433;p32"/>
          <p:cNvSpPr txBox="1"/>
          <p:nvPr/>
        </p:nvSpPr>
        <p:spPr>
          <a:xfrm>
            <a:off x="312737" y="1058862"/>
            <a:ext cx="9372600" cy="76835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Most of the API libraries, written for web application development, have a rich set of graphical visualization tools. The following snapshots are taken from Sencha web site (</a:t>
            </a:r>
            <a:r>
              <a:rPr b="0" i="0" lang="en-US" sz="1600" u="sng">
                <a:solidFill>
                  <a:srgbClr val="CCCCFF"/>
                </a:solidFill>
                <a:latin typeface="Arial"/>
                <a:ea typeface="Arial"/>
                <a:cs typeface="Arial"/>
                <a:sym typeface="Arial"/>
                <a:hlinkClick r:id="rId3">
                  <a:extLst>
                    <a:ext uri="{A12FA001-AC4F-418D-AE19-62706E023703}">
                      <ahyp:hlinkClr val="tx"/>
                    </a:ext>
                  </a:extLst>
                </a:hlinkClick>
              </a:rPr>
              <a:t>http://www.sencha.com/</a:t>
            </a:r>
            <a:r>
              <a:rPr b="0" i="0" lang="en-US" sz="1600" u="none">
                <a:solidFill>
                  <a:srgbClr val="000000"/>
                </a:solidFill>
                <a:latin typeface="Arial"/>
                <a:ea typeface="Arial"/>
                <a:cs typeface="Arial"/>
                <a:sym typeface="Arial"/>
              </a:rPr>
              <a:t>).  It distributes very fine JavaScript library Sencha Ext JS. </a:t>
            </a:r>
            <a:endParaRPr/>
          </a:p>
        </p:txBody>
      </p:sp>
      <p:pic>
        <p:nvPicPr>
          <p:cNvPr id="434" name="Google Shape;434;p32"/>
          <p:cNvPicPr preferRelativeResize="0"/>
          <p:nvPr/>
        </p:nvPicPr>
        <p:blipFill rotWithShape="1">
          <a:blip r:embed="rId4">
            <a:alphaModFix/>
          </a:blip>
          <a:srcRect b="0" l="0" r="37356" t="21807"/>
          <a:stretch/>
        </p:blipFill>
        <p:spPr>
          <a:xfrm>
            <a:off x="315912" y="2066925"/>
            <a:ext cx="4027487" cy="2962275"/>
          </a:xfrm>
          <a:prstGeom prst="rect">
            <a:avLst/>
          </a:prstGeom>
          <a:noFill/>
          <a:ln>
            <a:noFill/>
          </a:ln>
        </p:spPr>
      </p:pic>
      <p:pic>
        <p:nvPicPr>
          <p:cNvPr id="435" name="Google Shape;435;p32"/>
          <p:cNvPicPr preferRelativeResize="0"/>
          <p:nvPr/>
        </p:nvPicPr>
        <p:blipFill rotWithShape="1">
          <a:blip r:embed="rId5">
            <a:alphaModFix/>
          </a:blip>
          <a:srcRect b="10491" l="30886" r="10139" t="14285"/>
          <a:stretch/>
        </p:blipFill>
        <p:spPr>
          <a:xfrm>
            <a:off x="2925762" y="2571750"/>
            <a:ext cx="3886200" cy="2971800"/>
          </a:xfrm>
          <a:prstGeom prst="rect">
            <a:avLst/>
          </a:prstGeom>
          <a:noFill/>
          <a:ln>
            <a:noFill/>
          </a:ln>
        </p:spPr>
      </p:pic>
      <p:pic>
        <p:nvPicPr>
          <p:cNvPr id="436" name="Google Shape;436;p32"/>
          <p:cNvPicPr preferRelativeResize="0"/>
          <p:nvPr/>
        </p:nvPicPr>
        <p:blipFill rotWithShape="1">
          <a:blip r:embed="rId6">
            <a:alphaModFix/>
          </a:blip>
          <a:srcRect b="6730" l="21817" r="19212" t="18046"/>
          <a:stretch/>
        </p:blipFill>
        <p:spPr>
          <a:xfrm>
            <a:off x="5486400" y="1828800"/>
            <a:ext cx="3886200" cy="2971800"/>
          </a:xfrm>
          <a:prstGeom prst="rect">
            <a:avLst/>
          </a:prstGeom>
          <a:noFill/>
          <a:ln>
            <a:noFill/>
          </a:ln>
        </p:spPr>
      </p:pic>
      <p:pic>
        <p:nvPicPr>
          <p:cNvPr id="437" name="Google Shape;437;p32"/>
          <p:cNvPicPr preferRelativeResize="0"/>
          <p:nvPr/>
        </p:nvPicPr>
        <p:blipFill rotWithShape="1">
          <a:blip r:embed="rId7">
            <a:alphaModFix/>
          </a:blip>
          <a:srcRect b="29292" l="20408" r="20619" t="40612"/>
          <a:stretch/>
        </p:blipFill>
        <p:spPr>
          <a:xfrm>
            <a:off x="2276475" y="4711700"/>
            <a:ext cx="5943600" cy="1828800"/>
          </a:xfrm>
          <a:prstGeom prst="rect">
            <a:avLst/>
          </a:prstGeom>
          <a:noFill/>
          <a:ln>
            <a:noFill/>
          </a:ln>
        </p:spPr>
      </p:pic>
      <p:sp>
        <p:nvSpPr>
          <p:cNvPr id="438" name="Google Shape;438;p32"/>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33"/>
          <p:cNvSpPr txBox="1"/>
          <p:nvPr/>
        </p:nvSpPr>
        <p:spPr>
          <a:xfrm>
            <a:off x="503237" y="301625"/>
            <a:ext cx="9067800" cy="612775"/>
          </a:xfrm>
          <a:prstGeom prst="rect">
            <a:avLst/>
          </a:prstGeom>
          <a:noFill/>
          <a:ln>
            <a:noFill/>
          </a:ln>
        </p:spPr>
        <p:txBody>
          <a:bodyPr anchorCtr="0" anchor="ctr"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Octopus CIP integration with existing applications</a:t>
            </a:r>
            <a:endParaRPr/>
          </a:p>
        </p:txBody>
      </p:sp>
      <p:sp>
        <p:nvSpPr>
          <p:cNvPr id="445" name="Google Shape;445;p33"/>
          <p:cNvSpPr txBox="1"/>
          <p:nvPr/>
        </p:nvSpPr>
        <p:spPr>
          <a:xfrm>
            <a:off x="457200" y="1203325"/>
            <a:ext cx="9144000" cy="4932362"/>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Octopus CIP applications are open for integration with other applications. The foundation of Octopus applications, the Octopus model, is essentially, a minimal Octopus application. As an application, Octopus model provides a wide variety of methods for communication, based on data exchange. The important feature of these data exchange methods, is that they are asynchronous. There is no way to send data directly to the Octopus model in run-time, except by use of  parameters, sent to the model at the starting point.  </a:t>
            </a:r>
            <a:endParaRPr/>
          </a:p>
          <a:p>
            <a:pPr indent="0" lvl="0" marL="0" marR="0" rtl="0" algn="l">
              <a:lnSpc>
                <a:spcPct val="93000"/>
              </a:lnSpc>
              <a:spcBef>
                <a:spcPts val="0"/>
              </a:spcBef>
              <a:spcAft>
                <a:spcPts val="0"/>
              </a:spcAft>
              <a:buClr>
                <a:srgbClr val="FFFFFF"/>
              </a:buClr>
              <a:buSzPts val="1600"/>
              <a:buFont typeface="Arial"/>
              <a:buNone/>
            </a:pPr>
            <a:r>
              <a:t/>
            </a:r>
            <a:endParaRPr b="0" i="0" sz="1600" u="non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There are three main integration strategies that can be applied:</a:t>
            </a:r>
            <a:endParaRPr/>
          </a:p>
          <a:p>
            <a:pPr indent="0" lvl="0" marL="0" marR="0" rtl="0" algn="l">
              <a:lnSpc>
                <a:spcPct val="93000"/>
              </a:lnSpc>
              <a:spcBef>
                <a:spcPts val="0"/>
              </a:spcBef>
              <a:spcAft>
                <a:spcPts val="0"/>
              </a:spcAft>
              <a:buClr>
                <a:srgbClr val="FFFFFF"/>
              </a:buClr>
              <a:buSzPts val="1600"/>
              <a:buFont typeface="Arial"/>
              <a:buNone/>
            </a:pPr>
            <a:r>
              <a:t/>
            </a:r>
            <a:endParaRPr b="0" i="0" sz="1600" u="none">
              <a:solidFill>
                <a:srgbClr val="000000"/>
              </a:solidFill>
              <a:latin typeface="Arial"/>
              <a:ea typeface="Arial"/>
              <a:cs typeface="Arial"/>
              <a:sym typeface="Arial"/>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Octopus models and elements of Octopus CIP infrastructure can be used in external applications as web services;</a:t>
            </a:r>
            <a:endParaRPr/>
          </a:p>
          <a:p>
            <a:pPr indent="0" lvl="0" marL="0" marR="0" rtl="0" algn="l">
              <a:lnSpc>
                <a:spcPct val="93000"/>
              </a:lnSpc>
              <a:spcBef>
                <a:spcPts val="0"/>
              </a:spcBef>
              <a:spcAft>
                <a:spcPts val="0"/>
              </a:spcAft>
              <a:buClr>
                <a:srgbClr val="FFFFFF"/>
              </a:buClr>
              <a:buSzPts val="1600"/>
              <a:buFont typeface="Arial"/>
              <a:buNone/>
            </a:pPr>
            <a:r>
              <a:t/>
            </a:r>
            <a:endParaRPr b="0" i="0" sz="1600" u="none">
              <a:solidFill>
                <a:srgbClr val="000000"/>
              </a:solidFill>
              <a:latin typeface="Arial"/>
              <a:ea typeface="Arial"/>
              <a:cs typeface="Arial"/>
              <a:sym typeface="Arial"/>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Octopus CIP applications can be integrated with external applications using asynchronous data exchange;</a:t>
            </a:r>
            <a:endParaRPr/>
          </a:p>
          <a:p>
            <a:pPr indent="0" lvl="0" marL="0" marR="0" rtl="0" algn="l">
              <a:lnSpc>
                <a:spcPct val="93000"/>
              </a:lnSpc>
              <a:spcBef>
                <a:spcPts val="0"/>
              </a:spcBef>
              <a:spcAft>
                <a:spcPts val="0"/>
              </a:spcAft>
              <a:buClr>
                <a:srgbClr val="FFFFFF"/>
              </a:buClr>
              <a:buSzPts val="1600"/>
              <a:buFont typeface="Arial"/>
              <a:buNone/>
            </a:pPr>
            <a:r>
              <a:t/>
            </a:r>
            <a:endParaRPr b="0" i="0" sz="1600" u="none">
              <a:solidFill>
                <a:srgbClr val="000000"/>
              </a:solidFill>
              <a:latin typeface="Arial"/>
              <a:ea typeface="Arial"/>
              <a:cs typeface="Arial"/>
              <a:sym typeface="Arial"/>
            </a:endParaRPr>
          </a:p>
          <a:p>
            <a:pPr indent="-276225" lvl="1" marL="733425" marR="0" rtl="0" algn="l">
              <a:lnSpc>
                <a:spcPct val="93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Arial"/>
                <a:ea typeface="Arial"/>
                <a:cs typeface="Arial"/>
                <a:sym typeface="Arial"/>
              </a:rPr>
              <a:t>Octopus models and applications in concert with asynchronous tools, like Rabbit MQ, can serve as flexible and adaptive data exchange bridges connecting multiple heterogeneous applications.  </a:t>
            </a:r>
            <a:endParaRPr/>
          </a:p>
        </p:txBody>
      </p:sp>
      <p:sp>
        <p:nvSpPr>
          <p:cNvPr id="446" name="Google Shape;446;p33"/>
          <p:cNvSpPr txBox="1"/>
          <p:nvPr/>
        </p:nvSpPr>
        <p:spPr>
          <a:xfrm>
            <a:off x="2297112" y="6886575"/>
            <a:ext cx="5410200" cy="322262"/>
          </a:xfrm>
          <a:prstGeom prst="rect">
            <a:avLst/>
          </a:prstGeom>
          <a:noFill/>
          <a:ln>
            <a:noFill/>
          </a:ln>
        </p:spPr>
        <p:txBody>
          <a:bodyPr anchorCtr="0" anchor="t" bIns="0" lIns="0" spcFirstLastPara="1" rIns="0" wrap="square" tIns="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Lisa Park Confidential, all Rights reserved.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2012-10-01T05:47:11Z</dcterms:created>
  <dc:creator>Alex Mylnikov</dc:creator>
</cp:coreProperties>
</file>

<file path=docProps/custom.xml><?xml version="1.0" encoding="utf-8"?>
<Properties xmlns="http://schemas.openxmlformats.org/officeDocument/2006/custom-properties" xmlns:vt="http://schemas.openxmlformats.org/officeDocument/2006/docPropsVTypes"/>
</file>